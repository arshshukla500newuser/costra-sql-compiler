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84" r:id="rId35"/>
    <p:sldId id="259" r:id="rId10"/>
    <p:sldId id="260" r:id="rId11"/>
    <p:sldId id="285" r:id="rId36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86" r:id="rId37"/>
    <p:sldId id="287" r:id="rId38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4.xml"/><Relationship Id="rId36" Type="http://schemas.openxmlformats.org/officeDocument/2006/relationships/slide" Target="slides/slide7.xml"/><Relationship Id="rId37" Type="http://schemas.openxmlformats.org/officeDocument/2006/relationships/slide" Target="slides/slide17.xml"/><Relationship Id="rId38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rshshukla500newuser/COSTRA-SQL-Compiler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rshshukla500newuser/COSTRA-SQL-Compiler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02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46920" y="-1417320"/>
            <a:ext cx="3657600" cy="3657600"/>
          </a:xfrm>
          <a:prstGeom prst="ellipse">
            <a:avLst/>
          </a:prstGeom>
          <a:solidFill>
            <a:srgbClr val="583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822960" y="5394960"/>
            <a:ext cx="3200400" cy="3200400"/>
          </a:xfrm>
          <a:prstGeom prst="ellipse">
            <a:avLst/>
          </a:prstGeom>
          <a:solidFill>
            <a:srgbClr val="667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" y="1143000"/>
            <a:ext cx="804672" cy="804672"/>
          </a:xfrm>
          <a:prstGeom prst="ellipse">
            <a:avLst/>
          </a:prstGeom>
          <a:solidFill>
            <a:srgbClr val="C45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07592"/>
            <a:ext cx="80467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CF7"/>
                </a:solidFill>
                <a:latin typeface="Aptos Mono"/>
              </a:rPr>
              <a:t>&lt;/&gt;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30352"/>
            <a:ext cx="7680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7D4C0"/>
                </a:solidFill>
                <a:latin typeface="Aptos"/>
              </a:rPr>
              <a:t>COMPILER DESIGN LABORATORY  •  BCSE307P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12848"/>
            <a:ext cx="7040880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800" b="1" i="0">
                <a:solidFill>
                  <a:srgbClr val="FFFCF7"/>
                </a:solidFill>
                <a:latin typeface="Georgia"/>
              </a:rPr>
              <a:t>COSTRA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044952"/>
            <a:ext cx="81381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1">
                <a:solidFill>
                  <a:srgbClr val="E7D4C0"/>
                </a:solidFill>
                <a:latin typeface="Georgia"/>
              </a:rPr>
              <a:t>Cost-Based SQL Compiler &amp; Query Optimizer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3675887"/>
            <a:ext cx="960120" cy="59436"/>
          </a:xfrm>
          <a:prstGeom prst="rect">
            <a:avLst/>
          </a:prstGeom>
          <a:solidFill>
            <a:srgbClr val="E0A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041648"/>
            <a:ext cx="8595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CF7"/>
                </a:solidFill>
                <a:latin typeface="Aptos"/>
              </a:rPr>
              <a:t>FINAL PROJECT REVIEW  •  PHASE 3: IMPLEMENTATION &amp; TESTING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617720"/>
            <a:ext cx="80467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7D4C0"/>
                </a:solidFill>
                <a:latin typeface="Aptos"/>
              </a:rPr>
              <a:t>Arsh Shukla   |   24BDS0113   |   VIT Vellore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925312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E7D4C0"/>
                </a:solidFill>
                <a:latin typeface="Aptos"/>
              </a:rPr>
              <a:t>GitHub repository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6181344"/>
            <a:ext cx="6949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 u="sng">
                <a:solidFill>
                  <a:srgbClr val="E0AA3A"/>
                </a:solidFill>
                <a:latin typeface="Aptos"/>
                <a:hlinkClick r:id="rId2"/>
              </a:rPr>
              <a:t>github.com/arshshukla500newuser/COSTRA-SQL-Compiler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0881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45643"/>
                </a:solidFill>
                <a:latin typeface="Aptos"/>
              </a:rPr>
              <a:t>REVIEW 3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94360"/>
            <a:ext cx="1097280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402219"/>
                </a:solidFill>
                <a:latin typeface="Georgia"/>
              </a:rPr>
              <a:t>One query, an inspectable compiler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1124712"/>
            <a:ext cx="594360" cy="50292"/>
          </a:xfrm>
          <a:prstGeom prst="rect">
            <a:avLst/>
          </a:prstGeom>
          <a:solidFill>
            <a:srgbClr val="E0A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53312" y="1042415"/>
            <a:ext cx="10241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7D6A5F"/>
                </a:solidFill>
                <a:latin typeface="Aptos"/>
              </a:rPr>
              <a:t>The goal is to show how the implementation works, not just list source files.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8138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7D6A5F"/>
                </a:solidFill>
                <a:latin typeface="Aptos"/>
              </a:rPr>
              <a:t>COSTRA  •  COMPILER DESIGN LABORATORY  •  FINAL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73952"/>
            <a:ext cx="502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>
                <a:solidFill>
                  <a:srgbClr val="7D6A5F"/>
                </a:solidFill>
                <a:latin typeface="Aptos"/>
              </a:rP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572768"/>
            <a:ext cx="2606040" cy="1143000"/>
          </a:xfrm>
          <a:prstGeom prst="roundRect">
            <a:avLst>
              <a:gd name="adj" fmla="val 10000"/>
            </a:avLst>
          </a:prstGeom>
          <a:solidFill>
            <a:srgbClr val="FFFCF7"/>
          </a:solidFill>
          <a:ln w="10160">
            <a:solidFill>
              <a:srgbClr val="E7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22376" y="1700784"/>
            <a:ext cx="292608" cy="292608"/>
          </a:xfrm>
          <a:prstGeom prst="ellipse">
            <a:avLst/>
          </a:prstGeom>
          <a:solidFill>
            <a:srgbClr val="C45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2376" y="1709928"/>
            <a:ext cx="292608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CF7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1691640"/>
            <a:ext cx="20025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402219"/>
                </a:solidFill>
                <a:latin typeface="Georgia"/>
              </a:rPr>
              <a:t>Read SQL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" y="2048256"/>
            <a:ext cx="2313432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7D6A5F"/>
                </a:solidFill>
                <a:latin typeface="Aptos"/>
              </a:rPr>
              <a:t>One SELECT with joins and aggregation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83280" y="1572768"/>
            <a:ext cx="2606040" cy="1143000"/>
          </a:xfrm>
          <a:prstGeom prst="roundRect">
            <a:avLst>
              <a:gd name="adj" fmla="val 10000"/>
            </a:avLst>
          </a:prstGeom>
          <a:solidFill>
            <a:srgbClr val="FFFCF7"/>
          </a:solidFill>
          <a:ln w="10160">
            <a:solidFill>
              <a:srgbClr val="E7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11296" y="1700784"/>
            <a:ext cx="292608" cy="292608"/>
          </a:xfrm>
          <a:prstGeom prst="ellipse">
            <a:avLst/>
          </a:prstGeom>
          <a:solidFill>
            <a:srgbClr val="C45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11296" y="1709928"/>
            <a:ext cx="292608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CF7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86200" y="1691640"/>
            <a:ext cx="20025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402219"/>
                </a:solidFill>
                <a:latin typeface="Georgia"/>
              </a:rPr>
              <a:t>Compile stages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9584" y="2048256"/>
            <a:ext cx="2313432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7D6A5F"/>
                </a:solidFill>
                <a:latin typeface="Aptos"/>
              </a:rPr>
              <a:t>Tokens → AST → semantics → IR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1572768"/>
            <a:ext cx="2606040" cy="1143000"/>
          </a:xfrm>
          <a:prstGeom prst="roundRect">
            <a:avLst>
              <a:gd name="adj" fmla="val 10000"/>
            </a:avLst>
          </a:prstGeom>
          <a:solidFill>
            <a:srgbClr val="FFFCF7"/>
          </a:solidFill>
          <a:ln w="10160">
            <a:solidFill>
              <a:srgbClr val="E7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300216" y="1700784"/>
            <a:ext cx="292608" cy="292608"/>
          </a:xfrm>
          <a:prstGeom prst="ellipse">
            <a:avLst/>
          </a:prstGeom>
          <a:solidFill>
            <a:srgbClr val="C45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0216" y="1709928"/>
            <a:ext cx="292608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CF7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1691640"/>
            <a:ext cx="20025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402219"/>
                </a:solidFill>
                <a:latin typeface="Georgia"/>
              </a:rPr>
              <a:t>Estimate plans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18504" y="2048256"/>
            <a:ext cx="2313432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7D6A5F"/>
                </a:solidFill>
                <a:latin typeface="Aptos"/>
              </a:rPr>
              <a:t>Synthetic cardinality + relative costs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61120" y="1572768"/>
            <a:ext cx="2606040" cy="1143000"/>
          </a:xfrm>
          <a:prstGeom prst="roundRect">
            <a:avLst>
              <a:gd name="adj" fmla="val 10000"/>
            </a:avLst>
          </a:prstGeom>
          <a:solidFill>
            <a:srgbClr val="FFFCF7"/>
          </a:solidFill>
          <a:ln w="10160">
            <a:solidFill>
              <a:srgbClr val="E7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089136" y="1700784"/>
            <a:ext cx="292608" cy="292608"/>
          </a:xfrm>
          <a:prstGeom prst="ellipse">
            <a:avLst/>
          </a:prstGeom>
          <a:solidFill>
            <a:srgbClr val="C45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89136" y="1709928"/>
            <a:ext cx="292608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CF7"/>
                </a:solidFill>
                <a:latin typeface="Aptos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64040" y="1691640"/>
            <a:ext cx="20025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402219"/>
                </a:solidFill>
                <a:latin typeface="Georgia"/>
              </a:rPr>
              <a:t>Execute + verify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07424" y="2048256"/>
            <a:ext cx="2313432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7D6A5F"/>
                </a:solidFill>
                <a:latin typeface="Aptos"/>
              </a:rPr>
              <a:t>SQLite output, query plan and tests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4360" y="3108960"/>
            <a:ext cx="3493008" cy="2029968"/>
          </a:xfrm>
          <a:prstGeom prst="roundRect">
            <a:avLst>
              <a:gd name="adj" fmla="val 10000"/>
            </a:avLst>
          </a:prstGeom>
          <a:solidFill>
            <a:srgbClr val="FFFCF7"/>
          </a:solidFill>
          <a:ln w="10160">
            <a:solidFill>
              <a:srgbClr val="E7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94360" y="3108960"/>
            <a:ext cx="68580" cy="2029968"/>
          </a:xfrm>
          <a:prstGeom prst="rect">
            <a:avLst/>
          </a:prstGeom>
          <a:solidFill>
            <a:srgbClr val="C45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3246120"/>
            <a:ext cx="3172968" cy="32004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402219"/>
                </a:solidFill>
                <a:latin typeface="Georgia"/>
              </a:rPr>
              <a:t>What is implemented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3630168"/>
            <a:ext cx="3172968" cy="142646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E241F"/>
                </a:solidFill>
                <a:latin typeface="Aptos"/>
              </a:rPr>
              <a:t>Lexer, recursive-descent parser, AST, semantic analyzer, relational IR, heuristic optimizer and SQLite-backed execution.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43400" y="3108960"/>
            <a:ext cx="3493008" cy="2029968"/>
          </a:xfrm>
          <a:prstGeom prst="roundRect">
            <a:avLst>
              <a:gd name="adj" fmla="val 10000"/>
            </a:avLst>
          </a:prstGeom>
          <a:solidFill>
            <a:srgbClr val="FFFCF7"/>
          </a:solidFill>
          <a:ln w="10160">
            <a:solidFill>
              <a:srgbClr val="E7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343400" y="3108960"/>
            <a:ext cx="68580" cy="2029968"/>
          </a:xfrm>
          <a:prstGeom prst="rect">
            <a:avLst/>
          </a:prstGeom>
          <a:solidFill>
            <a:srgbClr val="667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26280" y="3246120"/>
            <a:ext cx="3172968" cy="32004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402219"/>
                </a:solidFill>
                <a:latin typeface="Georgia"/>
              </a:rPr>
              <a:t>Evidence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26280" y="3630168"/>
            <a:ext cx="3172968" cy="142646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E241F"/>
                </a:solidFill>
                <a:latin typeface="Aptos"/>
              </a:rPr>
              <a:t>48 automated tests in the latest checked run, repeatable query outputs and saved benchmark summaries.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92440" y="3108960"/>
            <a:ext cx="3493008" cy="2029968"/>
          </a:xfrm>
          <a:prstGeom prst="roundRect">
            <a:avLst>
              <a:gd name="adj" fmla="val 10000"/>
            </a:avLst>
          </a:prstGeom>
          <a:solidFill>
            <a:srgbClr val="FFFCF7"/>
          </a:solidFill>
          <a:ln w="10160">
            <a:solidFill>
              <a:srgbClr val="E7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092440" y="3108960"/>
            <a:ext cx="68580" cy="2029968"/>
          </a:xfrm>
          <a:prstGeom prst="rect">
            <a:avLst/>
          </a:prstGeom>
          <a:solidFill>
            <a:srgbClr val="E0A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75319" y="3246120"/>
            <a:ext cx="3172968" cy="32004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402219"/>
                </a:solidFill>
                <a:latin typeface="Georgia"/>
              </a:rPr>
              <a:t>Important boundary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75319" y="3630168"/>
            <a:ext cx="3172968" cy="142646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E241F"/>
                </a:solidFill>
                <a:latin typeface="Aptos"/>
              </a:rPr>
              <a:t>COSTRA ranks estimated plans. SQLite independently plans and executes the normalized SQL.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0881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45643"/>
                </a:solidFill>
                <a:latin typeface="Aptos"/>
              </a:rPr>
              <a:t>PROJECT PROGRESS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94360"/>
            <a:ext cx="1097280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402219"/>
                </a:solidFill>
                <a:latin typeface="Georgia"/>
              </a:rPr>
              <a:t>From design to a tested end-to-end prototype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1124712"/>
            <a:ext cx="594360" cy="50292"/>
          </a:xfrm>
          <a:prstGeom prst="rect">
            <a:avLst/>
          </a:prstGeom>
          <a:solidFill>
            <a:srgbClr val="E0A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8138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7D6A5F"/>
                </a:solidFill>
                <a:latin typeface="Aptos"/>
              </a:rPr>
              <a:t>COSTRA  •  COMPILER DESIGN LABORATORY  •  FINAL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02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>
                <a:solidFill>
                  <a:srgbClr val="7D6A5F"/>
                </a:solidFill>
                <a:latin typeface="Aptos"/>
              </a:rP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508760"/>
            <a:ext cx="3429000" cy="3474720"/>
          </a:xfrm>
          <a:prstGeom prst="roundRect">
            <a:avLst>
              <a:gd name="adj" fmla="val 10000"/>
            </a:avLst>
          </a:prstGeom>
          <a:solidFill>
            <a:srgbClr val="FFFCF7"/>
          </a:solidFill>
          <a:ln w="10160">
            <a:solidFill>
              <a:srgbClr val="E7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508760"/>
            <a:ext cx="68580" cy="3474720"/>
          </a:xfrm>
          <a:prstGeom prst="rect">
            <a:avLst/>
          </a:prstGeom>
          <a:solidFill>
            <a:srgbClr val="E0A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645919"/>
            <a:ext cx="3108960" cy="32004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402219"/>
                </a:solidFill>
                <a:latin typeface="Georgia"/>
              </a:rPr>
              <a:t>Phase 1 · Design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029967"/>
            <a:ext cx="3108960" cy="2871215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2E241F"/>
                </a:solidFill>
                <a:latin typeface="Aptos"/>
              </a:rPr>
              <a:t>• Problem statement and objectives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2E241F"/>
                </a:solidFill>
                <a:latin typeface="Aptos"/>
              </a:rPr>
              <a:t>• SQL subset and architecture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2E241F"/>
                </a:solidFill>
                <a:latin typeface="Aptos"/>
              </a:rPr>
              <a:t>• Compiler-stage mapping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2E241F"/>
                </a:solidFill>
                <a:latin typeface="Aptos"/>
              </a:rPr>
              <a:t>• Prototype plan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508760"/>
            <a:ext cx="3429000" cy="3474720"/>
          </a:xfrm>
          <a:prstGeom prst="roundRect">
            <a:avLst>
              <a:gd name="adj" fmla="val 10000"/>
            </a:avLst>
          </a:prstGeom>
          <a:solidFill>
            <a:srgbClr val="FFFCF7"/>
          </a:solidFill>
          <a:ln w="10160">
            <a:solidFill>
              <a:srgbClr val="E7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1508760"/>
            <a:ext cx="68580" cy="3474720"/>
          </a:xfrm>
          <a:prstGeom prst="rect">
            <a:avLst/>
          </a:prstGeom>
          <a:solidFill>
            <a:srgbClr val="C45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645919"/>
            <a:ext cx="3108960" cy="32004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402219"/>
                </a:solidFill>
                <a:latin typeface="Georgia"/>
              </a:rPr>
              <a:t>Phase 2 · Core implementation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029967"/>
            <a:ext cx="3108960" cy="2871215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2E241F"/>
                </a:solidFill>
                <a:latin typeface="Aptos"/>
              </a:rPr>
              <a:t>• Lexer and parser / AST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2E241F"/>
                </a:solidFill>
                <a:latin typeface="Aptos"/>
              </a:rPr>
              <a:t>• Semantic validation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2E241F"/>
                </a:solidFill>
                <a:latin typeface="Aptos"/>
              </a:rPr>
              <a:t>• Logical relational IR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2E241F"/>
                </a:solidFill>
                <a:latin typeface="Aptos"/>
              </a:rPr>
              <a:t>• Cost model and candidate plans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508760"/>
            <a:ext cx="3429000" cy="3474720"/>
          </a:xfrm>
          <a:prstGeom prst="roundRect">
            <a:avLst>
              <a:gd name="adj" fmla="val 10000"/>
            </a:avLst>
          </a:prstGeom>
          <a:solidFill>
            <a:srgbClr val="FFFCF7"/>
          </a:solidFill>
          <a:ln w="10160">
            <a:solidFill>
              <a:srgbClr val="E7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2440" y="1508760"/>
            <a:ext cx="68580" cy="3474720"/>
          </a:xfrm>
          <a:prstGeom prst="rect">
            <a:avLst/>
          </a:prstGeom>
          <a:solidFill>
            <a:srgbClr val="667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19" y="1645919"/>
            <a:ext cx="3108960" cy="32004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402219"/>
                </a:solidFill>
                <a:latin typeface="Georgia"/>
              </a:rPr>
              <a:t>Phase 3 · Final validation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19" y="2029967"/>
            <a:ext cx="3108960" cy="2871215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2E241F"/>
                </a:solidFill>
                <a:latin typeface="Aptos"/>
              </a:rPr>
              <a:t>• Integrated CLI demo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2E241F"/>
                </a:solidFill>
                <a:latin typeface="Aptos"/>
              </a:rPr>
              <a:t>• Expanded parser / semantic tests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2E241F"/>
                </a:solidFill>
                <a:latin typeface="Aptos"/>
              </a:rPr>
              <a:t>• Execution and SQLite plan evidence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2E241F"/>
                </a:solidFill>
                <a:latin typeface="Aptos"/>
              </a:rPr>
              <a:t>• Benchmark, report and user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376672"/>
            <a:ext cx="107899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402219"/>
                </a:solidFill>
                <a:latin typeface="Georgia"/>
              </a:rPr>
              <a:t>Review 3 focus: functional correctness · compiler integration · testing · demonstration · documentation · viva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46888"/>
            <a:ext cx="10927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C45643"/>
                </a:solidFill>
                <a:latin typeface="Aptos"/>
              </a:rPr>
              <a:t>REVIEW MILESTONES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12064"/>
            <a:ext cx="1101852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402219"/>
                </a:solidFill>
                <a:latin typeface="Georgia"/>
              </a:rPr>
              <a:t>One input, three review milestones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1097280"/>
            <a:ext cx="594360" cy="54864"/>
          </a:xfrm>
          <a:prstGeom prst="rect">
            <a:avLst/>
          </a:prstGeom>
          <a:solidFill>
            <a:srgbClr val="E0A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53312" y="1024128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20" b="0" i="0">
                <a:solidFill>
                  <a:srgbClr val="7D6A5F"/>
                </a:solidFill>
                <a:latin typeface="Aptos"/>
              </a:rPr>
              <a:t>The menu offers three review-wise walkthroughs; each review marks progress in the same project.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7D6A5F"/>
                </a:solidFill>
                <a:latin typeface="Aptos"/>
              </a:rPr>
              <a:t>COSTRA  •  COMPILER DESIGN LABORATORY  •  FINAL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73952"/>
            <a:ext cx="502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>
                <a:solidFill>
                  <a:srgbClr val="7D6A5F"/>
                </a:solidFill>
                <a:latin typeface="Aptos"/>
              </a:rP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572768"/>
            <a:ext cx="3493008" cy="4041648"/>
          </a:xfrm>
          <a:prstGeom prst="roundRect">
            <a:avLst/>
          </a:prstGeom>
          <a:solidFill>
            <a:srgbClr val="FFFCF7"/>
          </a:solidFill>
          <a:ln w="10160">
            <a:solidFill>
              <a:srgbClr val="E7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572768"/>
            <a:ext cx="64008" cy="4041648"/>
          </a:xfrm>
          <a:prstGeom prst="rect">
            <a:avLst/>
          </a:prstGeom>
          <a:solidFill>
            <a:srgbClr val="C45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764792"/>
            <a:ext cx="3145536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30" b="1" i="0">
                <a:solidFill>
                  <a:srgbClr val="402219"/>
                </a:solidFill>
                <a:latin typeface="Georgia"/>
              </a:rPr>
              <a:t>REVIEW 1 / DESIGN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240280"/>
            <a:ext cx="3127248" cy="31546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70" b="0" i="0">
                <a:solidFill>
                  <a:srgbClr val="2E241F"/>
                </a:solidFill>
                <a:latin typeface="Aptos"/>
              </a:rPr>
              <a:t>INPUT / PROBLEM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70" b="0" i="0">
                <a:solidFill>
                  <a:srgbClr val="2E241F"/>
                </a:solidFill>
                <a:latin typeface="Aptos"/>
              </a:rPr>
              <a:t>A SQL-query optimization problem and requirements.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70" b="0" i="0">
                <a:solidFill>
                  <a:srgbClr val="2E241F"/>
                </a:solidFill>
                <a:latin typeface="Aptos"/>
              </a:rPr>
              <a:t>SHOW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70" b="0" i="0">
                <a:solidFill>
                  <a:srgbClr val="2E241F"/>
                </a:solidFill>
                <a:latin typeface="Aptos"/>
              </a:rPr>
              <a:t>• Problem statement and objectives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70" b="0" i="0">
                <a:solidFill>
                  <a:srgbClr val="2E241F"/>
                </a:solidFill>
                <a:latin typeface="Aptos"/>
              </a:rPr>
              <a:t>• Supported SQL scope / grammar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70" b="0" i="0">
                <a:solidFill>
                  <a:srgbClr val="2E241F"/>
                </a:solidFill>
                <a:latin typeface="Aptos"/>
              </a:rPr>
              <a:t>• Architecture and compiler pipeline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70" b="0" i="0">
                <a:solidFill>
                  <a:srgbClr val="2E241F"/>
                </a:solidFill>
                <a:latin typeface="Aptos"/>
              </a:rPr>
              <a:t>• Initial prototype plan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70" b="0" i="0">
                <a:solidFill>
                  <a:srgbClr val="2E241F"/>
                </a:solidFill>
                <a:latin typeface="Aptos"/>
              </a:rPr>
              <a:t>OUTPUT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70" b="0" i="0">
                <a:solidFill>
                  <a:srgbClr val="2E241F"/>
                </a:solidFill>
                <a:latin typeface="Aptos"/>
              </a:rPr>
              <a:t>A reviewed design and clear implementation plan - not the full final execution.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572768"/>
            <a:ext cx="3493008" cy="4041648"/>
          </a:xfrm>
          <a:prstGeom prst="roundRect">
            <a:avLst/>
          </a:prstGeom>
          <a:solidFill>
            <a:srgbClr val="FFFCF7"/>
          </a:solidFill>
          <a:ln w="10160">
            <a:solidFill>
              <a:srgbClr val="E7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572768"/>
            <a:ext cx="64008" cy="4041648"/>
          </a:xfrm>
          <a:prstGeom prst="rect">
            <a:avLst/>
          </a:prstGeom>
          <a:solidFill>
            <a:srgbClr val="667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1764792"/>
            <a:ext cx="3145536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30" b="1" i="0">
                <a:solidFill>
                  <a:srgbClr val="402219"/>
                </a:solidFill>
                <a:latin typeface="Georgia"/>
              </a:rPr>
              <a:t>REVIEW 2 / CORE MODULES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240280"/>
            <a:ext cx="3127248" cy="31546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70" b="0" i="0">
                <a:solidFill>
                  <a:srgbClr val="2E241F"/>
                </a:solidFill>
                <a:latin typeface="Aptos"/>
              </a:rPr>
              <a:t>SAME SAMPLE QUERY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70" b="0" i="0">
                <a:solidFill>
                  <a:srgbClr val="2E241F"/>
                </a:solidFill>
                <a:latin typeface="Aptos"/>
              </a:rPr>
              <a:t>Passes through the core stages.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70" b="0" i="0">
                <a:solidFill>
                  <a:srgbClr val="2E241F"/>
                </a:solidFill>
                <a:latin typeface="Aptos"/>
              </a:rPr>
              <a:t>SHOW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70" b="0" i="0">
                <a:solidFill>
                  <a:srgbClr val="2E241F"/>
                </a:solidFill>
                <a:latin typeface="Aptos"/>
              </a:rPr>
              <a:t>• Tokens and AST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70" b="0" i="0">
                <a:solidFill>
                  <a:srgbClr val="2E241F"/>
                </a:solidFill>
                <a:latin typeface="Aptos"/>
              </a:rPr>
              <a:t>• Semantic checks and relational IR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70" b="0" i="0">
                <a:solidFill>
                  <a:srgbClr val="2E241F"/>
                </a:solidFill>
                <a:latin typeface="Aptos"/>
              </a:rPr>
              <a:t>• Candidate plan cost estimates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70" b="0" i="0">
                <a:solidFill>
                  <a:srgbClr val="2E241F"/>
                </a:solidFill>
                <a:latin typeface="Aptos"/>
              </a:rPr>
              <a:t>• SQLite result from the working prototype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70" b="0" i="0">
                <a:solidFill>
                  <a:srgbClr val="2E241F"/>
                </a:solidFill>
                <a:latin typeface="Aptos"/>
              </a:rPr>
              <a:t>OUTPUT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70" b="0" i="0">
                <a:solidFill>
                  <a:srgbClr val="2E241F"/>
                </a:solidFill>
                <a:latin typeface="Aptos"/>
              </a:rPr>
              <a:t>Evidence that the main modules work together and implementation progress is real.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1572768"/>
            <a:ext cx="3493008" cy="4041648"/>
          </a:xfrm>
          <a:prstGeom prst="roundRect">
            <a:avLst/>
          </a:prstGeom>
          <a:solidFill>
            <a:srgbClr val="FFFCF7"/>
          </a:solidFill>
          <a:ln w="10160">
            <a:solidFill>
              <a:srgbClr val="E7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92440" y="1572768"/>
            <a:ext cx="64008" cy="4041648"/>
          </a:xfrm>
          <a:prstGeom prst="rect">
            <a:avLst/>
          </a:prstGeom>
          <a:solidFill>
            <a:srgbClr val="E0A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75319" y="1764792"/>
            <a:ext cx="3145536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30" b="1" i="0">
                <a:solidFill>
                  <a:srgbClr val="402219"/>
                </a:solidFill>
                <a:latin typeface="Georgia"/>
              </a:rPr>
              <a:t>REVIEW 3 / INTEGRATED SYSTEM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19" y="2240280"/>
            <a:ext cx="3127248" cy="31546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70" b="0" i="0">
                <a:solidFill>
                  <a:srgbClr val="2E241F"/>
                </a:solidFill>
                <a:latin typeface="Aptos"/>
              </a:rPr>
              <a:t>SAME QUERY, FULL PATH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70" b="0" i="0">
                <a:solidFill>
                  <a:srgbClr val="2E241F"/>
                </a:solidFill>
                <a:latin typeface="Aptos"/>
              </a:rPr>
              <a:t>One end-to-end demonstration.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70" b="0" i="0">
                <a:solidFill>
                  <a:srgbClr val="2E241F"/>
                </a:solidFill>
                <a:latin typeface="Aptos"/>
              </a:rPr>
              <a:t>SHOW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70" b="0" i="0">
                <a:solidFill>
                  <a:srgbClr val="2E241F"/>
                </a:solidFill>
                <a:latin typeface="Aptos"/>
              </a:rPr>
              <a:t>• Lowest estimated-cost plan and formula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70" b="0" i="0">
                <a:solidFill>
                  <a:srgbClr val="2E241F"/>
                </a:solidFill>
                <a:latin typeface="Aptos"/>
              </a:rPr>
              <a:t>• Normalized SQL and result rows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70" b="0" i="0">
                <a:solidFill>
                  <a:srgbClr val="2E241F"/>
                </a:solidFill>
                <a:latin typeface="Aptos"/>
              </a:rPr>
              <a:t>• SQLite EXPLAIN output and timings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70" b="0" i="0">
                <a:solidFill>
                  <a:srgbClr val="2E241F"/>
                </a:solidFill>
                <a:latin typeface="Aptos"/>
              </a:rPr>
              <a:t>• Invalid-input handling and tests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70" b="0" i="0">
                <a:solidFill>
                  <a:srgbClr val="2E241F"/>
                </a:solidFill>
                <a:latin typeface="Aptos"/>
              </a:rPr>
              <a:t>• Source, report and user guide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70" b="0" i="0">
                <a:solidFill>
                  <a:srgbClr val="2E241F"/>
                </a:solidFill>
                <a:latin typeface="Aptos"/>
              </a:rPr>
              <a:t>OUTPUT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70" b="0" i="0">
                <a:solidFill>
                  <a:srgbClr val="2E241F"/>
                </a:solidFill>
                <a:latin typeface="Aptos"/>
              </a:rPr>
              <a:t>Integrated, validated educational prototype plus final submission materials.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8" y="5733288"/>
            <a:ext cx="10954512" cy="475488"/>
          </a:xfrm>
          <a:prstGeom prst="roundRect">
            <a:avLst/>
          </a:prstGeom>
          <a:solidFill>
            <a:srgbClr val="F0E5D5"/>
          </a:solidFill>
          <a:ln w="10160">
            <a:solidFill>
              <a:srgbClr val="E7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824728"/>
            <a:ext cx="1062532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1" i="0">
                <a:solidFill>
                  <a:srgbClr val="402219"/>
                </a:solidFill>
                <a:latin typeface="Aptos"/>
              </a:rPr>
              <a:t>SAY: “Review 1 defined the design; Review 2 demonstrated core modules; Review 3 integrates the pipeline, cost comparison, execution, tests and final documentation.”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0881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45643"/>
                </a:solidFill>
                <a:latin typeface="Aptos"/>
              </a:rPr>
              <a:t>MOTIVATION &amp;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94360"/>
            <a:ext cx="1097280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402219"/>
                </a:solidFill>
                <a:latin typeface="Georgia"/>
              </a:rPr>
              <a:t>Why build COSTRA?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1124712"/>
            <a:ext cx="594360" cy="50292"/>
          </a:xfrm>
          <a:prstGeom prst="rect">
            <a:avLst/>
          </a:prstGeom>
          <a:solidFill>
            <a:srgbClr val="E0A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8138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7D6A5F"/>
                </a:solidFill>
                <a:latin typeface="Aptos"/>
              </a:rPr>
              <a:t>COSTRA  •  COMPILER DESIGN LABORATORY  •  FINAL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02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>
                <a:solidFill>
                  <a:srgbClr val="7D6A5F"/>
                </a:solidFill>
                <a:latin typeface="Aptos"/>
              </a:rP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481328"/>
            <a:ext cx="5349240" cy="1828800"/>
          </a:xfrm>
          <a:prstGeom prst="roundRect">
            <a:avLst>
              <a:gd name="adj" fmla="val 10000"/>
            </a:avLst>
          </a:prstGeom>
          <a:solidFill>
            <a:srgbClr val="FFFCF7"/>
          </a:solidFill>
          <a:ln w="10160">
            <a:solidFill>
              <a:srgbClr val="E7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481328"/>
            <a:ext cx="68580" cy="1828800"/>
          </a:xfrm>
          <a:prstGeom prst="rect">
            <a:avLst/>
          </a:prstGeom>
          <a:solidFill>
            <a:srgbClr val="C45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1618488"/>
            <a:ext cx="5029200" cy="32004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402219"/>
                </a:solidFill>
                <a:latin typeface="Georgia"/>
              </a:rPr>
              <a:t>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002536"/>
            <a:ext cx="5029200" cy="1225295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E241F"/>
                </a:solidFill>
                <a:latin typeface="Aptos"/>
              </a:rPr>
              <a:t>A SQL query hides several processing steps: tokenization, parsing, name validation, logical operators and plan estimation.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1481328"/>
            <a:ext cx="5349240" cy="1828800"/>
          </a:xfrm>
          <a:prstGeom prst="roundRect">
            <a:avLst>
              <a:gd name="adj" fmla="val 10000"/>
            </a:avLst>
          </a:prstGeom>
          <a:solidFill>
            <a:srgbClr val="FFFCF7"/>
          </a:solidFill>
          <a:ln w="10160">
            <a:solidFill>
              <a:srgbClr val="E7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99632" y="1481328"/>
            <a:ext cx="68580" cy="1828800"/>
          </a:xfrm>
          <a:prstGeom prst="rect">
            <a:avLst/>
          </a:prstGeom>
          <a:solidFill>
            <a:srgbClr val="E0A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1618488"/>
            <a:ext cx="5029200" cy="32004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402219"/>
                </a:solidFill>
                <a:latin typeface="Georgia"/>
              </a:rPr>
              <a:t>Project objective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2512" y="2002536"/>
            <a:ext cx="5029200" cy="1225295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E241F"/>
                </a:solidFill>
                <a:latin typeface="Aptos"/>
              </a:rPr>
              <a:t>Make these stages visible and executable so a student can trace one query from source text to validated representation and result rows.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675887"/>
            <a:ext cx="32004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402219"/>
                </a:solidFill>
                <a:latin typeface="Georgia"/>
              </a:rPr>
              <a:t>Implemented scope</a:t>
            </a:r>
          </a:p>
        </p:txBody>
      </p:sp>
      <p:sp>
        <p:nvSpPr>
          <p:cNvPr id="16" name="Oval 15"/>
          <p:cNvSpPr/>
          <p:nvPr/>
        </p:nvSpPr>
        <p:spPr>
          <a:xfrm>
            <a:off x="777240" y="4197096"/>
            <a:ext cx="77724" cy="77724"/>
          </a:xfrm>
          <a:prstGeom prst="ellipse">
            <a:avLst/>
          </a:prstGeom>
          <a:solidFill>
            <a:srgbClr val="C45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8408" y="4096512"/>
            <a:ext cx="5010912" cy="51206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E241F"/>
                </a:solidFill>
                <a:latin typeface="Aptos"/>
              </a:rPr>
              <a:t>SELECT projection, aliases and DISTINCT</a:t>
            </a:r>
          </a:p>
        </p:txBody>
      </p:sp>
      <p:sp>
        <p:nvSpPr>
          <p:cNvPr id="18" name="Oval 17"/>
          <p:cNvSpPr/>
          <p:nvPr/>
        </p:nvSpPr>
        <p:spPr>
          <a:xfrm>
            <a:off x="777240" y="4709160"/>
            <a:ext cx="77724" cy="77724"/>
          </a:xfrm>
          <a:prstGeom prst="ellipse">
            <a:avLst/>
          </a:prstGeom>
          <a:solidFill>
            <a:srgbClr val="C45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8408" y="4608576"/>
            <a:ext cx="5010912" cy="51206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E241F"/>
                </a:solidFill>
                <a:latin typeface="Aptos"/>
              </a:rPr>
              <a:t>JOINs, WHERE predicates and expressions</a:t>
            </a:r>
          </a:p>
        </p:txBody>
      </p:sp>
      <p:sp>
        <p:nvSpPr>
          <p:cNvPr id="20" name="Oval 19"/>
          <p:cNvSpPr/>
          <p:nvPr/>
        </p:nvSpPr>
        <p:spPr>
          <a:xfrm>
            <a:off x="777240" y="5221224"/>
            <a:ext cx="77724" cy="77724"/>
          </a:xfrm>
          <a:prstGeom prst="ellipse">
            <a:avLst/>
          </a:prstGeom>
          <a:solidFill>
            <a:srgbClr val="C45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8408" y="5120640"/>
            <a:ext cx="5010912" cy="51206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E241F"/>
                </a:solidFill>
                <a:latin typeface="Aptos"/>
              </a:rPr>
              <a:t>GROUP BY, HAVING, ORDER BY and LIMIT</a:t>
            </a:r>
          </a:p>
        </p:txBody>
      </p:sp>
      <p:sp>
        <p:nvSpPr>
          <p:cNvPr id="22" name="Oval 21"/>
          <p:cNvSpPr/>
          <p:nvPr/>
        </p:nvSpPr>
        <p:spPr>
          <a:xfrm>
            <a:off x="6263640" y="4197096"/>
            <a:ext cx="77724" cy="77724"/>
          </a:xfrm>
          <a:prstGeom prst="ellipse">
            <a:avLst/>
          </a:prstGeom>
          <a:solidFill>
            <a:srgbClr val="667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64807" y="4096512"/>
            <a:ext cx="4965192" cy="51206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E241F"/>
                </a:solidFill>
                <a:latin typeface="Aptos"/>
              </a:rPr>
              <a:t>Semantic checks for table / alias / column references</a:t>
            </a:r>
          </a:p>
        </p:txBody>
      </p:sp>
      <p:sp>
        <p:nvSpPr>
          <p:cNvPr id="24" name="Oval 23"/>
          <p:cNvSpPr/>
          <p:nvPr/>
        </p:nvSpPr>
        <p:spPr>
          <a:xfrm>
            <a:off x="6263640" y="4709160"/>
            <a:ext cx="77724" cy="77724"/>
          </a:xfrm>
          <a:prstGeom prst="ellipse">
            <a:avLst/>
          </a:prstGeom>
          <a:solidFill>
            <a:srgbClr val="667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4807" y="4608576"/>
            <a:ext cx="4965192" cy="51206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E241F"/>
                </a:solidFill>
                <a:latin typeface="Aptos"/>
              </a:rPr>
              <a:t>IR and synthetic plan-cost comparison</a:t>
            </a:r>
          </a:p>
        </p:txBody>
      </p:sp>
      <p:sp>
        <p:nvSpPr>
          <p:cNvPr id="26" name="Oval 25"/>
          <p:cNvSpPr/>
          <p:nvPr/>
        </p:nvSpPr>
        <p:spPr>
          <a:xfrm>
            <a:off x="6263640" y="5221224"/>
            <a:ext cx="77724" cy="77724"/>
          </a:xfrm>
          <a:prstGeom prst="ellipse">
            <a:avLst/>
          </a:prstGeom>
          <a:solidFill>
            <a:srgbClr val="667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64807" y="5120640"/>
            <a:ext cx="4965192" cy="51206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E241F"/>
                </a:solidFill>
                <a:latin typeface="Aptos"/>
              </a:rPr>
              <a:t>SQLite execution and automated regression tests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0881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45643"/>
                </a:solidFill>
                <a:latin typeface="Aptos"/>
              </a:rPr>
              <a:t>WORKED COMPILATION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94360"/>
            <a:ext cx="1097280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402219"/>
                </a:solidFill>
                <a:latin typeface="Georgia"/>
              </a:rPr>
              <a:t>The same query is used throughout the demo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1124712"/>
            <a:ext cx="594360" cy="50292"/>
          </a:xfrm>
          <a:prstGeom prst="rect">
            <a:avLst/>
          </a:prstGeom>
          <a:solidFill>
            <a:srgbClr val="E0A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53312" y="1042415"/>
            <a:ext cx="10241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7D6A5F"/>
                </a:solidFill>
                <a:latin typeface="Aptos"/>
              </a:rPr>
              <a:t>It deliberately includes joins, filters, aggregation, HAVING, sorting and a row limit.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8138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7D6A5F"/>
                </a:solidFill>
                <a:latin typeface="Aptos"/>
              </a:rPr>
              <a:t>COSTRA  •  COMPILER DESIGN LABORATORY  •  FINAL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73952"/>
            <a:ext cx="502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>
                <a:solidFill>
                  <a:srgbClr val="7D6A5F"/>
                </a:solidFill>
                <a:latin typeface="Aptos"/>
              </a:rP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08760"/>
            <a:ext cx="7452360" cy="4526280"/>
          </a:xfrm>
          <a:prstGeom prst="roundRect">
            <a:avLst>
              <a:gd name="adj" fmla="val 10000"/>
            </a:avLst>
          </a:prstGeom>
          <a:solidFill>
            <a:srgbClr val="211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1600200"/>
            <a:ext cx="714146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E0AA3A"/>
                </a:solidFill>
                <a:latin typeface="Aptos"/>
              </a:rPr>
              <a:t>SQL SOURCE PROGRAM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1828800"/>
            <a:ext cx="7123176" cy="413308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F9F0E4"/>
                </a:solidFill>
                <a:latin typeface="Aptos Mono"/>
              </a:rPr>
              <a:t>SELECT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F9F0E4"/>
                </a:solidFill>
                <a:latin typeface="Aptos Mono"/>
              </a:rPr>
              <a:t>    d.name AS department,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F9F0E4"/>
                </a:solidFill>
                <a:latin typeface="Aptos Mono"/>
              </a:rPr>
              <a:t>    COUNT(e.id) AS employee_count,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F9F0E4"/>
                </a:solidFill>
                <a:latin typeface="Aptos Mono"/>
              </a:rPr>
              <a:t>    AVG(e.salary) AS average_salary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F9F0E4"/>
                </a:solidFill>
                <a:latin typeface="Aptos Mono"/>
              </a:rPr>
              <a:t>FROM Employee e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F9F0E4"/>
                </a:solidFill>
                <a:latin typeface="Aptos Mono"/>
              </a:rPr>
              <a:t>JOIN Department d ON e.dept_id = d.id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F9F0E4"/>
                </a:solidFill>
                <a:latin typeface="Aptos Mono"/>
              </a:rPr>
              <a:t>JOIN Assignment a ON e.id = a.employee_id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F9F0E4"/>
                </a:solidFill>
                <a:latin typeface="Aptos Mono"/>
              </a:rPr>
              <a:t>JOIN Project p ON a.project_id = p.id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F9F0E4"/>
                </a:solidFill>
                <a:latin typeface="Aptos Mono"/>
              </a:rPr>
              <a:t>WHERE e.salary &gt; 60000 AND p.budget &gt; 100000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F9F0E4"/>
                </a:solidFill>
                <a:latin typeface="Aptos Mono"/>
              </a:rPr>
              <a:t>GROUP BY d.name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F9F0E4"/>
                </a:solidFill>
                <a:latin typeface="Aptos Mono"/>
              </a:rPr>
              <a:t>HAVING AVG(e.salary) &gt; 65000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F9F0E4"/>
                </a:solidFill>
                <a:latin typeface="Aptos Mono"/>
              </a:rPr>
              <a:t>ORDER BY AVG(e.salary) DESC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F9F0E4"/>
                </a:solidFill>
                <a:latin typeface="Aptos Mono"/>
              </a:rPr>
              <a:t>LIMIT 5;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66760" y="1645920"/>
            <a:ext cx="3154680" cy="1143000"/>
          </a:xfrm>
          <a:prstGeom prst="roundRect">
            <a:avLst>
              <a:gd name="adj" fmla="val 10000"/>
            </a:avLst>
          </a:prstGeom>
          <a:solidFill>
            <a:srgbClr val="FFFCF7"/>
          </a:solidFill>
          <a:ln w="10160">
            <a:solidFill>
              <a:srgbClr val="E7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66760" y="1645920"/>
            <a:ext cx="68580" cy="1143000"/>
          </a:xfrm>
          <a:prstGeom prst="rect">
            <a:avLst/>
          </a:prstGeom>
          <a:solidFill>
            <a:srgbClr val="C45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49640" y="1783080"/>
            <a:ext cx="2834640" cy="32004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402219"/>
                </a:solidFill>
                <a:latin typeface="Georgia"/>
              </a:rPr>
              <a:t>Four relations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2167128"/>
            <a:ext cx="2834640" cy="53949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E241F"/>
                </a:solidFill>
                <a:latin typeface="Aptos"/>
              </a:rPr>
              <a:t>Employee · Department · Assignment · Project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66760" y="2990088"/>
            <a:ext cx="3154680" cy="1143000"/>
          </a:xfrm>
          <a:prstGeom prst="roundRect">
            <a:avLst>
              <a:gd name="adj" fmla="val 10000"/>
            </a:avLst>
          </a:prstGeom>
          <a:solidFill>
            <a:srgbClr val="FFFCF7"/>
          </a:solidFill>
          <a:ln w="10160">
            <a:solidFill>
              <a:srgbClr val="E7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2990088"/>
            <a:ext cx="68580" cy="1143000"/>
          </a:xfrm>
          <a:prstGeom prst="rect">
            <a:avLst/>
          </a:prstGeom>
          <a:solidFill>
            <a:srgbClr val="E0A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49640" y="3127248"/>
            <a:ext cx="2834640" cy="32004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402219"/>
                </a:solidFill>
                <a:latin typeface="Georgia"/>
              </a:rPr>
              <a:t>Two filters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49640" y="3511296"/>
            <a:ext cx="2834640" cy="53949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2E241F"/>
                </a:solidFill>
                <a:latin typeface="Aptos"/>
              </a:rPr>
              <a:t>Salary &gt; 60,000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2E241F"/>
                </a:solidFill>
                <a:latin typeface="Aptos"/>
              </a:rPr>
              <a:t>Budget &gt; 100,000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66760" y="4334256"/>
            <a:ext cx="3154680" cy="1143000"/>
          </a:xfrm>
          <a:prstGeom prst="roundRect">
            <a:avLst>
              <a:gd name="adj" fmla="val 10000"/>
            </a:avLst>
          </a:prstGeom>
          <a:solidFill>
            <a:srgbClr val="FFFCF7"/>
          </a:solidFill>
          <a:ln w="10160">
            <a:solidFill>
              <a:srgbClr val="E7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366760" y="4334256"/>
            <a:ext cx="68580" cy="1143000"/>
          </a:xfrm>
          <a:prstGeom prst="rect">
            <a:avLst/>
          </a:prstGeom>
          <a:solidFill>
            <a:srgbClr val="667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49640" y="4471416"/>
            <a:ext cx="2834640" cy="32004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402219"/>
                </a:solidFill>
                <a:latin typeface="Georgia"/>
              </a:rPr>
              <a:t>Aggregate result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49640" y="4855464"/>
            <a:ext cx="2834640" cy="53949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E241F"/>
                </a:solidFill>
                <a:latin typeface="Aptos"/>
              </a:rPr>
              <a:t>Count and average salary grouped by department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46888"/>
            <a:ext cx="10927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50" b="1" i="0">
                <a:solidFill>
                  <a:srgbClr val="C45643"/>
                </a:solidFill>
                <a:latin typeface="Aptos"/>
              </a:rPr>
              <a:t>LIVE INPUT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12064"/>
            <a:ext cx="1101852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500" b="1" i="0">
                <a:solidFill>
                  <a:srgbClr val="402219"/>
                </a:solidFill>
                <a:latin typeface="Georgia"/>
              </a:rPr>
              <a:t>When the professor asks me to enter my own SQL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1097280"/>
            <a:ext cx="594360" cy="54864"/>
          </a:xfrm>
          <a:prstGeom prst="rect">
            <a:avLst/>
          </a:prstGeom>
          <a:solidFill>
            <a:srgbClr val="E0A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53312" y="1024128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20" b="0" i="0">
                <a:solidFill>
                  <a:srgbClr val="7D6A5F"/>
                </a:solidFill>
                <a:latin typeface="Aptos"/>
              </a:rPr>
              <a:t>Run the interactive menu, select option 4, then enter one supported SELECT statement.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7D6A5F"/>
                </a:solidFill>
                <a:latin typeface="Aptos"/>
              </a:rPr>
              <a:t>COSTRA  •  COMPILER DESIGN LABORATORY  •  FINAL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73952"/>
            <a:ext cx="502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>
                <a:solidFill>
                  <a:srgbClr val="7D6A5F"/>
                </a:solidFill>
                <a:latin typeface="Aptos"/>
              </a:rPr>
              <a:t>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72768"/>
            <a:ext cx="5943600" cy="4526280"/>
          </a:xfrm>
          <a:prstGeom prst="roundRect">
            <a:avLst/>
          </a:prstGeom>
          <a:solidFill>
            <a:srgbClr val="211A17"/>
          </a:solidFill>
          <a:ln w="10160">
            <a:solidFill>
              <a:srgbClr val="211A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55648"/>
            <a:ext cx="5440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00" b="1" i="0">
                <a:solidFill>
                  <a:srgbClr val="E0AA3A"/>
                </a:solidFill>
                <a:latin typeface="Aptos"/>
              </a:rPr>
              <a:t>OPTION 4 / INTERACTIVE MENU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048256"/>
            <a:ext cx="54406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750" b="0" i="0">
                <a:solidFill>
                  <a:srgbClr val="FFFCF7"/>
                </a:solidFill>
                <a:latin typeface="Aptos Mono"/>
              </a:rPr>
              <a:t>python3 main.py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2542032"/>
            <a:ext cx="5440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240" b="0" i="0">
                <a:solidFill>
                  <a:srgbClr val="FFFCF7"/>
                </a:solidFill>
                <a:latin typeface="Aptos Mono"/>
              </a:rPr>
              <a:t>Choose:  4. Enter my own SELECT query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3072384"/>
            <a:ext cx="5440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00" b="1" i="0">
                <a:solidFill>
                  <a:srgbClr val="E0AA3A"/>
                </a:solidFill>
                <a:latin typeface="Aptos"/>
              </a:rPr>
              <a:t>TYPE AT THE SQL&gt; PROMPT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3438144"/>
            <a:ext cx="544068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1120" b="0" i="0">
                <a:solidFill>
                  <a:srgbClr val="FFFCF7"/>
                </a:solidFill>
                <a:latin typeface="Aptos Mono"/>
              </a:rPr>
              <a:t>SELECT name, salary FROM Employee WHERE salary &gt; 80000;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4233672"/>
            <a:ext cx="5440680" cy="60350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r>
              <a:rPr sz="1110" b="0" i="0">
                <a:solidFill>
                  <a:srgbClr val="E7D4C0"/>
                </a:solidFill>
                <a:latin typeface="Aptos"/>
              </a:rPr>
              <a:t>Type the entire SELECT statement on one line and finish it with a semicolon.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5010912"/>
            <a:ext cx="5440680" cy="60350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r>
              <a:rPr sz="1110" b="0" i="0">
                <a:solidFill>
                  <a:srgbClr val="E7D4C0"/>
                </a:solidFill>
                <a:latin typeface="Aptos"/>
              </a:rPr>
              <a:t>COSTRA runs lexer → parser/AST → semantic checks → relational IR → cost comparison → SQLite execution.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39712" y="1572768"/>
            <a:ext cx="4709160" cy="4526280"/>
          </a:xfrm>
          <a:prstGeom prst="roundRect">
            <a:avLst/>
          </a:prstGeom>
          <a:solidFill>
            <a:srgbClr val="FFFCF7"/>
          </a:solidFill>
          <a:ln w="10160">
            <a:solidFill>
              <a:srgbClr val="E7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839712" y="1572768"/>
            <a:ext cx="64008" cy="4526280"/>
          </a:xfrm>
          <a:prstGeom prst="rect">
            <a:avLst/>
          </a:prstGeom>
          <a:solidFill>
            <a:srgbClr val="E0A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68312" y="1801368"/>
            <a:ext cx="422452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1" i="0">
                <a:solidFill>
                  <a:srgbClr val="402219"/>
                </a:solidFill>
                <a:latin typeface="Georgia"/>
              </a:rPr>
              <a:t>OPTIONAL / DIRECT COMMAND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68312" y="2176272"/>
            <a:ext cx="4187952" cy="10789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1300" b="0" i="0">
                <a:solidFill>
                  <a:srgbClr val="2E241F"/>
                </a:solidFill>
                <a:latin typeface="Aptos Mono"/>
              </a:rPr>
              <a:t>python3 main.py --query</a:t>
            </a:r>
          </a:p>
          <a:p>
            <a:r>
              <a:rPr sz="1300" b="0" i="0">
                <a:solidFill>
                  <a:srgbClr val="2E241F"/>
                </a:solidFill>
                <a:latin typeface="Aptos Mono"/>
              </a:rPr>
              <a:t>"SELECT name, salary FROM Employee WHERE salary &gt; 80000 ORDER BY salary DESC LIMIT 3;"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68312" y="3355848"/>
            <a:ext cx="4187952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00" b="1" i="0">
                <a:solidFill>
                  <a:srgbClr val="C45643"/>
                </a:solidFill>
                <a:latin typeface="Aptos"/>
              </a:rPr>
              <a:t>SAVED EXAMPLE RESULT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68312" y="3675887"/>
            <a:ext cx="4187952" cy="7040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1220" b="0" i="0">
                <a:solidFill>
                  <a:srgbClr val="2E241F"/>
                </a:solidFill>
                <a:latin typeface="Aptos Mono"/>
              </a:rPr>
              <a:t>name       | salary</a:t>
            </a:r>
          </a:p>
          <a:p>
            <a:r>
              <a:rPr sz="1220" b="0" i="0">
                <a:solidFill>
                  <a:srgbClr val="2E241F"/>
                </a:solidFill>
                <a:latin typeface="Aptos Mono"/>
              </a:rPr>
              <a:t>Ishita     | 91000</a:t>
            </a:r>
          </a:p>
          <a:p>
            <a:r>
              <a:rPr sz="1220" b="0" i="0">
                <a:solidFill>
                  <a:srgbClr val="2E241F"/>
                </a:solidFill>
                <a:latin typeface="Aptos Mono"/>
              </a:rPr>
              <a:t>Arjun      | 85000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68312" y="4599432"/>
            <a:ext cx="4187952" cy="111556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r>
              <a:rPr sz="1200" b="0" i="0">
                <a:solidFill>
                  <a:srgbClr val="7D6A5F"/>
                </a:solidFill>
                <a:latin typeface="Aptos"/>
              </a:rPr>
              <a:t>Explain: “COSTRA analyses and estimates the plan; SQLite independently executes normalized SQL.”</a:t>
            </a:r>
          </a:p>
          <a:p/>
          <a:p>
            <a:r>
              <a:rPr sz="1200" b="0" i="0">
                <a:solidFill>
                  <a:srgbClr val="7D6A5F"/>
                </a:solidFill>
                <a:latin typeface="Aptos"/>
              </a:rPr>
              <a:t>If syntax or semantics fail, the error is shown and SQL is not executed.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0881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45643"/>
                </a:solidFill>
                <a:latin typeface="Aptos"/>
              </a:rPr>
              <a:t>COMPILER CONCEPTS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94360"/>
            <a:ext cx="1097280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402219"/>
                </a:solidFill>
                <a:latin typeface="Georgia"/>
              </a:rPr>
              <a:t>What does 'compilation' mean in COSTRA?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1124712"/>
            <a:ext cx="594360" cy="50292"/>
          </a:xfrm>
          <a:prstGeom prst="rect">
            <a:avLst/>
          </a:prstGeom>
          <a:solidFill>
            <a:srgbClr val="E0A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8138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7D6A5F"/>
                </a:solidFill>
                <a:latin typeface="Aptos"/>
              </a:rPr>
              <a:t>COSTRA  •  COMPILER DESIGN LABORATORY  •  FINAL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02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>
                <a:solidFill>
                  <a:srgbClr val="7D6A5F"/>
                </a:solidFill>
                <a:latin typeface="Aptos"/>
              </a:rP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554480"/>
            <a:ext cx="5074920" cy="3566160"/>
          </a:xfrm>
          <a:prstGeom prst="roundRect">
            <a:avLst>
              <a:gd name="adj" fmla="val 10000"/>
            </a:avLst>
          </a:prstGeom>
          <a:solidFill>
            <a:srgbClr val="FFFCF7"/>
          </a:solidFill>
          <a:ln w="10160">
            <a:solidFill>
              <a:srgbClr val="E7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83080"/>
            <a:ext cx="44805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45643"/>
                </a:solidFill>
                <a:latin typeface="Aptos"/>
              </a:rPr>
              <a:t>COSTRA FRONT-END + OPTIMIZATION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2404872"/>
            <a:ext cx="77724" cy="77724"/>
          </a:xfrm>
          <a:prstGeom prst="ellipse">
            <a:avLst/>
          </a:prstGeom>
          <a:solidFill>
            <a:srgbClr val="C45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2304288"/>
            <a:ext cx="4279392" cy="49377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E241F"/>
                </a:solidFill>
                <a:latin typeface="Aptos"/>
              </a:rPr>
              <a:t>Tokenize SQL text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2898648"/>
            <a:ext cx="77724" cy="77724"/>
          </a:xfrm>
          <a:prstGeom prst="ellipse">
            <a:avLst/>
          </a:prstGeom>
          <a:solidFill>
            <a:srgbClr val="C45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2798064"/>
            <a:ext cx="4279392" cy="49377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E241F"/>
                </a:solidFill>
                <a:latin typeface="Aptos"/>
              </a:rPr>
              <a:t>Parse tokens into an AST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3392424"/>
            <a:ext cx="77724" cy="77724"/>
          </a:xfrm>
          <a:prstGeom prst="ellipse">
            <a:avLst/>
          </a:prstGeom>
          <a:solidFill>
            <a:srgbClr val="C45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3291840"/>
            <a:ext cx="4279392" cy="49377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E241F"/>
                </a:solidFill>
                <a:latin typeface="Aptos"/>
              </a:rPr>
              <a:t>Validate table, alias and column references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3886200"/>
            <a:ext cx="77724" cy="77724"/>
          </a:xfrm>
          <a:prstGeom prst="ellipse">
            <a:avLst/>
          </a:prstGeom>
          <a:solidFill>
            <a:srgbClr val="C45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15568" y="3785616"/>
            <a:ext cx="4279392" cy="49377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E241F"/>
                </a:solidFill>
                <a:latin typeface="Aptos"/>
              </a:rPr>
              <a:t>Build a relational logical plan</a:t>
            </a:r>
          </a:p>
        </p:txBody>
      </p:sp>
      <p:sp>
        <p:nvSpPr>
          <p:cNvPr id="17" name="Oval 16"/>
          <p:cNvSpPr/>
          <p:nvPr/>
        </p:nvSpPr>
        <p:spPr>
          <a:xfrm>
            <a:off x="914400" y="4379976"/>
            <a:ext cx="77724" cy="77724"/>
          </a:xfrm>
          <a:prstGeom prst="ellipse">
            <a:avLst/>
          </a:prstGeom>
          <a:solidFill>
            <a:srgbClr val="C45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15568" y="4279392"/>
            <a:ext cx="4279392" cy="49377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E241F"/>
                </a:solidFill>
                <a:latin typeface="Aptos"/>
              </a:rPr>
              <a:t>Estimate candidate access paths / join orders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46520" y="1554480"/>
            <a:ext cx="5074920" cy="3566160"/>
          </a:xfrm>
          <a:prstGeom prst="roundRect">
            <a:avLst>
              <a:gd name="adj" fmla="val 10000"/>
            </a:avLst>
          </a:prstGeom>
          <a:solidFill>
            <a:srgbClr val="F0E5D5"/>
          </a:solidFill>
          <a:ln w="10160">
            <a:solidFill>
              <a:srgbClr val="E7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11696" y="1783080"/>
            <a:ext cx="44805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66765B"/>
                </a:solidFill>
                <a:latin typeface="Aptos"/>
              </a:rPr>
              <a:t>EXECUTION BACK-END</a:t>
            </a:r>
          </a:p>
        </p:txBody>
      </p:sp>
      <p:sp>
        <p:nvSpPr>
          <p:cNvPr id="21" name="Oval 20"/>
          <p:cNvSpPr/>
          <p:nvPr/>
        </p:nvSpPr>
        <p:spPr>
          <a:xfrm>
            <a:off x="6711696" y="2404872"/>
            <a:ext cx="77724" cy="77724"/>
          </a:xfrm>
          <a:prstGeom prst="ellipse">
            <a:avLst/>
          </a:prstGeom>
          <a:solidFill>
            <a:srgbClr val="667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12864" y="2304288"/>
            <a:ext cx="4279392" cy="59436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E241F"/>
                </a:solidFill>
                <a:latin typeface="Aptos"/>
              </a:rPr>
              <a:t>Normalize the supported query</a:t>
            </a:r>
          </a:p>
        </p:txBody>
      </p:sp>
      <p:sp>
        <p:nvSpPr>
          <p:cNvPr id="23" name="Oval 22"/>
          <p:cNvSpPr/>
          <p:nvPr/>
        </p:nvSpPr>
        <p:spPr>
          <a:xfrm>
            <a:off x="6711696" y="2999232"/>
            <a:ext cx="77724" cy="77724"/>
          </a:xfrm>
          <a:prstGeom prst="ellipse">
            <a:avLst/>
          </a:prstGeom>
          <a:solidFill>
            <a:srgbClr val="667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12864" y="2898648"/>
            <a:ext cx="4279392" cy="59436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E241F"/>
                </a:solidFill>
                <a:latin typeface="Aptos"/>
              </a:rPr>
              <a:t>Send it to the SQLite execution engine</a:t>
            </a:r>
          </a:p>
        </p:txBody>
      </p:sp>
      <p:sp>
        <p:nvSpPr>
          <p:cNvPr id="25" name="Oval 24"/>
          <p:cNvSpPr/>
          <p:nvPr/>
        </p:nvSpPr>
        <p:spPr>
          <a:xfrm>
            <a:off x="6711696" y="3593591"/>
            <a:ext cx="77724" cy="77724"/>
          </a:xfrm>
          <a:prstGeom prst="ellipse">
            <a:avLst/>
          </a:prstGeom>
          <a:solidFill>
            <a:srgbClr val="667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12864" y="3493008"/>
            <a:ext cx="4279392" cy="59436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E241F"/>
                </a:solidFill>
                <a:latin typeface="Aptos"/>
              </a:rPr>
              <a:t>Return rows and SQLite's own query plan</a:t>
            </a:r>
          </a:p>
        </p:txBody>
      </p:sp>
      <p:sp>
        <p:nvSpPr>
          <p:cNvPr id="27" name="Oval 26"/>
          <p:cNvSpPr/>
          <p:nvPr/>
        </p:nvSpPr>
        <p:spPr>
          <a:xfrm>
            <a:off x="6711696" y="4187952"/>
            <a:ext cx="77724" cy="77724"/>
          </a:xfrm>
          <a:prstGeom prst="ellipse">
            <a:avLst/>
          </a:prstGeom>
          <a:solidFill>
            <a:srgbClr val="667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12864" y="4087368"/>
            <a:ext cx="4279392" cy="59436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E241F"/>
                </a:solidFill>
                <a:latin typeface="Aptos"/>
              </a:rPr>
              <a:t>Show measured stage timings separately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" y="5504688"/>
            <a:ext cx="10149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402219"/>
                </a:solidFill>
                <a:latin typeface="Georgia"/>
              </a:rPr>
              <a:t>COSTRA is a SQL-language educational compiler / optimizer prototype; it does not emit native machine code.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0881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45643"/>
                </a:solidFill>
                <a:latin typeface="Aptos"/>
              </a:rP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94360"/>
            <a:ext cx="1097280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402219"/>
                </a:solidFill>
                <a:latin typeface="Georgia"/>
              </a:rPr>
              <a:t>The complete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1124712"/>
            <a:ext cx="594360" cy="50292"/>
          </a:xfrm>
          <a:prstGeom prst="rect">
            <a:avLst/>
          </a:prstGeom>
          <a:solidFill>
            <a:srgbClr val="E0A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8138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7D6A5F"/>
                </a:solidFill>
                <a:latin typeface="Aptos"/>
              </a:rPr>
              <a:t>COSTRA  •  COMPILER DESIGN LABORATORY  •  FINAL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02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>
                <a:solidFill>
                  <a:srgbClr val="7D6A5F"/>
                </a:solidFill>
                <a:latin typeface="Aptos"/>
              </a:rP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1600200"/>
            <a:ext cx="2240280" cy="1069848"/>
          </a:xfrm>
          <a:prstGeom prst="roundRect">
            <a:avLst>
              <a:gd name="adj" fmla="val 10000"/>
            </a:avLst>
          </a:prstGeom>
          <a:solidFill>
            <a:srgbClr val="FFFCF7"/>
          </a:solidFill>
          <a:ln w="10160">
            <a:solidFill>
              <a:srgbClr val="E7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49808" y="1728216"/>
            <a:ext cx="292608" cy="292608"/>
          </a:xfrm>
          <a:prstGeom prst="ellipse">
            <a:avLst/>
          </a:prstGeom>
          <a:solidFill>
            <a:srgbClr val="C45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737360"/>
            <a:ext cx="292608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CF7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" y="1719072"/>
            <a:ext cx="163677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402219"/>
                </a:solidFill>
                <a:latin typeface="Georgia"/>
              </a:rPr>
              <a:t>SQL text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075688"/>
            <a:ext cx="1947672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7D6A5F"/>
                </a:solidFill>
                <a:latin typeface="Aptos"/>
              </a:rPr>
              <a:t>source query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889504" y="2130552"/>
            <a:ext cx="548640" cy="0"/>
          </a:xfrm>
          <a:prstGeom prst="line">
            <a:avLst/>
          </a:prstGeom>
          <a:ln w="25400">
            <a:solidFill>
              <a:srgbClr val="E0A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511296" y="1600200"/>
            <a:ext cx="2240280" cy="1069848"/>
          </a:xfrm>
          <a:prstGeom prst="roundRect">
            <a:avLst>
              <a:gd name="adj" fmla="val 10000"/>
            </a:avLst>
          </a:prstGeom>
          <a:solidFill>
            <a:srgbClr val="FFFCF7"/>
          </a:solidFill>
          <a:ln w="10160">
            <a:solidFill>
              <a:srgbClr val="E7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39312" y="1728216"/>
            <a:ext cx="292608" cy="292608"/>
          </a:xfrm>
          <a:prstGeom prst="ellipse">
            <a:avLst/>
          </a:prstGeom>
          <a:solidFill>
            <a:srgbClr val="C45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39312" y="1737360"/>
            <a:ext cx="292608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CF7"/>
                </a:solidFill>
                <a:latin typeface="Apto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14215" y="1719072"/>
            <a:ext cx="163677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402219"/>
                </a:solidFill>
                <a:latin typeface="Georgia"/>
              </a:rPr>
              <a:t>Lexer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2075688"/>
            <a:ext cx="1947672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7D6A5F"/>
                </a:solidFill>
                <a:latin typeface="Aptos"/>
              </a:rPr>
              <a:t>tokens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779008" y="2130552"/>
            <a:ext cx="548640" cy="0"/>
          </a:xfrm>
          <a:prstGeom prst="line">
            <a:avLst/>
          </a:prstGeom>
          <a:ln w="25400">
            <a:solidFill>
              <a:srgbClr val="E0A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400800" y="1600200"/>
            <a:ext cx="2240280" cy="1069848"/>
          </a:xfrm>
          <a:prstGeom prst="roundRect">
            <a:avLst>
              <a:gd name="adj" fmla="val 10000"/>
            </a:avLst>
          </a:prstGeom>
          <a:solidFill>
            <a:srgbClr val="FFFCF7"/>
          </a:solidFill>
          <a:ln w="10160">
            <a:solidFill>
              <a:srgbClr val="E7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28816" y="1728216"/>
            <a:ext cx="292608" cy="292608"/>
          </a:xfrm>
          <a:prstGeom prst="ellipse">
            <a:avLst/>
          </a:prstGeom>
          <a:solidFill>
            <a:srgbClr val="C45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28816" y="1737360"/>
            <a:ext cx="292608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CF7"/>
                </a:solidFill>
                <a:latin typeface="Aptos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3720" y="1719072"/>
            <a:ext cx="163677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402219"/>
                </a:solidFill>
                <a:latin typeface="Georgia"/>
              </a:rPr>
              <a:t>Parser + AST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47104" y="2075688"/>
            <a:ext cx="1947672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7D6A5F"/>
                </a:solidFill>
                <a:latin typeface="Aptos"/>
              </a:rPr>
              <a:t>structure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668512" y="2130552"/>
            <a:ext cx="548640" cy="0"/>
          </a:xfrm>
          <a:prstGeom prst="line">
            <a:avLst/>
          </a:prstGeom>
          <a:ln w="25400">
            <a:solidFill>
              <a:srgbClr val="E0A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290304" y="1600200"/>
            <a:ext cx="2240280" cy="1069848"/>
          </a:xfrm>
          <a:prstGeom prst="roundRect">
            <a:avLst>
              <a:gd name="adj" fmla="val 10000"/>
            </a:avLst>
          </a:prstGeom>
          <a:solidFill>
            <a:srgbClr val="FFFCF7"/>
          </a:solidFill>
          <a:ln w="10160">
            <a:solidFill>
              <a:srgbClr val="E7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418320" y="1728216"/>
            <a:ext cx="292608" cy="292608"/>
          </a:xfrm>
          <a:prstGeom prst="ellipse">
            <a:avLst/>
          </a:prstGeom>
          <a:solidFill>
            <a:srgbClr val="C45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18320" y="1737360"/>
            <a:ext cx="292608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CF7"/>
                </a:solidFill>
                <a:latin typeface="Aptos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93224" y="1719072"/>
            <a:ext cx="163677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402219"/>
                </a:solidFill>
                <a:latin typeface="Georgia"/>
              </a:rPr>
              <a:t>Semantics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36608" y="2075688"/>
            <a:ext cx="1947672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7D6A5F"/>
                </a:solidFill>
                <a:latin typeface="Aptos"/>
              </a:rPr>
              <a:t>validate names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290304" y="3840480"/>
            <a:ext cx="2240280" cy="1069848"/>
          </a:xfrm>
          <a:prstGeom prst="roundRect">
            <a:avLst>
              <a:gd name="adj" fmla="val 10000"/>
            </a:avLst>
          </a:prstGeom>
          <a:solidFill>
            <a:srgbClr val="F0E5D5"/>
          </a:solidFill>
          <a:ln w="10160">
            <a:solidFill>
              <a:srgbClr val="E7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418320" y="3968496"/>
            <a:ext cx="292608" cy="292608"/>
          </a:xfrm>
          <a:prstGeom prst="ellipse">
            <a:avLst/>
          </a:prstGeom>
          <a:solidFill>
            <a:srgbClr val="C45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418320" y="3977640"/>
            <a:ext cx="292608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CF7"/>
                </a:solidFill>
                <a:latin typeface="Aptos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93224" y="3959352"/>
            <a:ext cx="163677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402219"/>
                </a:solidFill>
                <a:latin typeface="Georgia"/>
              </a:rPr>
              <a:t>Logical IR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36608" y="4315968"/>
            <a:ext cx="1947672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7D6A5F"/>
                </a:solidFill>
                <a:latin typeface="Aptos"/>
              </a:rPr>
              <a:t>relational ops</a:t>
            </a:r>
          </a:p>
        </p:txBody>
      </p:sp>
      <p:cxnSp>
        <p:nvCxnSpPr>
          <p:cNvPr id="35" name="Connector 34"/>
          <p:cNvCxnSpPr/>
          <p:nvPr/>
        </p:nvCxnSpPr>
        <p:spPr>
          <a:xfrm flipH="1">
            <a:off x="8668512" y="4370832"/>
            <a:ext cx="548640" cy="0"/>
          </a:xfrm>
          <a:prstGeom prst="line">
            <a:avLst/>
          </a:prstGeom>
          <a:ln w="25400">
            <a:solidFill>
              <a:srgbClr val="E0A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6400800" y="3840480"/>
            <a:ext cx="2240280" cy="1069848"/>
          </a:xfrm>
          <a:prstGeom prst="roundRect">
            <a:avLst>
              <a:gd name="adj" fmla="val 10000"/>
            </a:avLst>
          </a:prstGeom>
          <a:solidFill>
            <a:srgbClr val="F0E5D5"/>
          </a:solidFill>
          <a:ln w="10160">
            <a:solidFill>
              <a:srgbClr val="E7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528816" y="3968496"/>
            <a:ext cx="292608" cy="292608"/>
          </a:xfrm>
          <a:prstGeom prst="ellipse">
            <a:avLst/>
          </a:prstGeom>
          <a:solidFill>
            <a:srgbClr val="C45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28816" y="3977640"/>
            <a:ext cx="292608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CF7"/>
                </a:solidFill>
                <a:latin typeface="Aptos"/>
              </a:rPr>
              <a:t>06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03720" y="3959352"/>
            <a:ext cx="163677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402219"/>
                </a:solidFill>
                <a:latin typeface="Georgia"/>
              </a:rPr>
              <a:t>Statistics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47104" y="4315968"/>
            <a:ext cx="1947672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7D6A5F"/>
                </a:solidFill>
                <a:latin typeface="Aptos"/>
              </a:rPr>
              <a:t>rows / selectivity</a:t>
            </a:r>
          </a:p>
        </p:txBody>
      </p:sp>
      <p:cxnSp>
        <p:nvCxnSpPr>
          <p:cNvPr id="41" name="Connector 40"/>
          <p:cNvCxnSpPr/>
          <p:nvPr/>
        </p:nvCxnSpPr>
        <p:spPr>
          <a:xfrm flipH="1">
            <a:off x="5779008" y="4370832"/>
            <a:ext cx="548640" cy="0"/>
          </a:xfrm>
          <a:prstGeom prst="line">
            <a:avLst/>
          </a:prstGeom>
          <a:ln w="25400">
            <a:solidFill>
              <a:srgbClr val="E0A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3511296" y="3840480"/>
            <a:ext cx="2240280" cy="1069848"/>
          </a:xfrm>
          <a:prstGeom prst="roundRect">
            <a:avLst>
              <a:gd name="adj" fmla="val 10000"/>
            </a:avLst>
          </a:prstGeom>
          <a:solidFill>
            <a:srgbClr val="F0E5D5"/>
          </a:solidFill>
          <a:ln w="10160">
            <a:solidFill>
              <a:srgbClr val="E7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3639312" y="3968496"/>
            <a:ext cx="292608" cy="292608"/>
          </a:xfrm>
          <a:prstGeom prst="ellipse">
            <a:avLst/>
          </a:prstGeom>
          <a:solidFill>
            <a:srgbClr val="C45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39312" y="3977640"/>
            <a:ext cx="292608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CF7"/>
                </a:solidFill>
                <a:latin typeface="Aptos"/>
              </a:rPr>
              <a:t>07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014215" y="3959352"/>
            <a:ext cx="163677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402219"/>
                </a:solidFill>
                <a:latin typeface="Georgia"/>
              </a:rPr>
              <a:t>Optimizer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0" y="4315968"/>
            <a:ext cx="1947672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7D6A5F"/>
                </a:solidFill>
                <a:latin typeface="Aptos"/>
              </a:rPr>
              <a:t>candidate costs</a:t>
            </a:r>
          </a:p>
        </p:txBody>
      </p:sp>
      <p:cxnSp>
        <p:nvCxnSpPr>
          <p:cNvPr id="47" name="Connector 46"/>
          <p:cNvCxnSpPr/>
          <p:nvPr/>
        </p:nvCxnSpPr>
        <p:spPr>
          <a:xfrm flipH="1">
            <a:off x="2889504" y="4370832"/>
            <a:ext cx="548640" cy="0"/>
          </a:xfrm>
          <a:prstGeom prst="line">
            <a:avLst/>
          </a:prstGeom>
          <a:ln w="25400">
            <a:solidFill>
              <a:srgbClr val="E0A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621792" y="3840480"/>
            <a:ext cx="2240280" cy="1069848"/>
          </a:xfrm>
          <a:prstGeom prst="roundRect">
            <a:avLst>
              <a:gd name="adj" fmla="val 10000"/>
            </a:avLst>
          </a:prstGeom>
          <a:solidFill>
            <a:srgbClr val="F0E5D5"/>
          </a:solidFill>
          <a:ln w="10160">
            <a:solidFill>
              <a:srgbClr val="E7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749808" y="3968496"/>
            <a:ext cx="292608" cy="292608"/>
          </a:xfrm>
          <a:prstGeom prst="ellipse">
            <a:avLst/>
          </a:prstGeom>
          <a:solidFill>
            <a:srgbClr val="C45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49808" y="3977640"/>
            <a:ext cx="292608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CF7"/>
                </a:solidFill>
                <a:latin typeface="Aptos"/>
              </a:rPr>
              <a:t>08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24712" y="3959352"/>
            <a:ext cx="163677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402219"/>
                </a:solidFill>
                <a:latin typeface="Georgia"/>
              </a:rPr>
              <a:t>SQLite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68096" y="4315968"/>
            <a:ext cx="1947672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7D6A5F"/>
                </a:solidFill>
                <a:latin typeface="Aptos"/>
              </a:rPr>
              <a:t>results + plan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10415016" y="2734056"/>
            <a:ext cx="0" cy="740664"/>
          </a:xfrm>
          <a:prstGeom prst="line">
            <a:avLst/>
          </a:prstGeom>
          <a:ln w="25400">
            <a:solidFill>
              <a:srgbClr val="E0A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749808" y="5522976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 i="1">
                <a:solidFill>
                  <a:srgbClr val="7D6A5F"/>
                </a:solidFill>
                <a:latin typeface="Aptos"/>
              </a:rPr>
              <a:t>Each stage returns data to the next one. Errors stop the pipeline before query execution.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0881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45643"/>
                </a:solidFill>
                <a:latin typeface="Aptos"/>
              </a:rPr>
              <a:t>STAGE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94360"/>
            <a:ext cx="1097280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402219"/>
                </a:solidFill>
                <a:latin typeface="Georgia"/>
              </a:rPr>
              <a:t>Lexical analysis: characters become tokens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1124712"/>
            <a:ext cx="594360" cy="50292"/>
          </a:xfrm>
          <a:prstGeom prst="rect">
            <a:avLst/>
          </a:prstGeom>
          <a:solidFill>
            <a:srgbClr val="E0A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8138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7D6A5F"/>
                </a:solidFill>
                <a:latin typeface="Aptos"/>
              </a:rPr>
              <a:t>COSTRA  •  COMPILER DESIGN LABORATORY  •  FINAL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02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>
                <a:solidFill>
                  <a:srgbClr val="7D6A5F"/>
                </a:solidFill>
                <a:latin typeface="Aptos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508760"/>
            <a:ext cx="4892040" cy="1417320"/>
          </a:xfrm>
          <a:prstGeom prst="roundRect">
            <a:avLst>
              <a:gd name="adj" fmla="val 10000"/>
            </a:avLst>
          </a:prstGeom>
          <a:solidFill>
            <a:srgbClr val="211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" y="1600200"/>
            <a:ext cx="458114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E0AA3A"/>
                </a:solidFill>
                <a:latin typeface="Aptos"/>
              </a:rPr>
              <a:t>INPUT EXCERPT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1828800"/>
            <a:ext cx="4562855" cy="102412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50" b="0" i="0">
                <a:solidFill>
                  <a:srgbClr val="F9F0E4"/>
                </a:solidFill>
                <a:latin typeface="Aptos Mono"/>
              </a:rPr>
              <a:t>SELECT name FROM Employee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50" b="0" i="0">
                <a:solidFill>
                  <a:srgbClr val="F9F0E4"/>
                </a:solidFill>
                <a:latin typeface="Aptos Mono"/>
              </a:rPr>
              <a:t>WHERE salary &gt; 80000;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3246120"/>
            <a:ext cx="4892040" cy="2057400"/>
          </a:xfrm>
          <a:prstGeom prst="roundRect">
            <a:avLst>
              <a:gd name="adj" fmla="val 10000"/>
            </a:avLst>
          </a:prstGeom>
          <a:solidFill>
            <a:srgbClr val="211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6" y="3337560"/>
            <a:ext cx="458114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E0AA3A"/>
                </a:solidFill>
                <a:latin typeface="Aptos"/>
              </a:rPr>
              <a:t>TOKEN KINDS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3566160"/>
            <a:ext cx="4562855" cy="166420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F9F0E4"/>
                </a:solidFill>
                <a:latin typeface="Aptos Mono"/>
              </a:rPr>
              <a:t>SELECT IDENTIFIER FROM IDENTIFIER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F9F0E4"/>
                </a:solidFill>
                <a:latin typeface="Aptos Mono"/>
              </a:rPr>
              <a:t>WHERE IDENTIFIER OPERATOR NUMBER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F9F0E4"/>
                </a:solidFill>
                <a:latin typeface="Aptos Mono"/>
              </a:rPr>
              <a:t>SEMICOLON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9320" y="1536192"/>
            <a:ext cx="5440680" cy="1234440"/>
          </a:xfrm>
          <a:prstGeom prst="roundRect">
            <a:avLst>
              <a:gd name="adj" fmla="val 10000"/>
            </a:avLst>
          </a:prstGeom>
          <a:solidFill>
            <a:srgbClr val="FFFCF7"/>
          </a:solidFill>
          <a:ln w="10160">
            <a:solidFill>
              <a:srgbClr val="E7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89320" y="1536192"/>
            <a:ext cx="68580" cy="1234440"/>
          </a:xfrm>
          <a:prstGeom prst="rect">
            <a:avLst/>
          </a:prstGeom>
          <a:solidFill>
            <a:srgbClr val="C45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72200" y="1673351"/>
            <a:ext cx="5120640" cy="32004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402219"/>
                </a:solidFill>
                <a:latin typeface="Georgia"/>
              </a:rPr>
              <a:t>Token classification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2057400"/>
            <a:ext cx="5120640" cy="63093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E241F"/>
                </a:solidFill>
                <a:latin typeface="Aptos"/>
              </a:rPr>
              <a:t>Keywords, identifiers, operators, literals, punctuation and EOF.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89320" y="2990088"/>
            <a:ext cx="5440680" cy="1234440"/>
          </a:xfrm>
          <a:prstGeom prst="roundRect">
            <a:avLst>
              <a:gd name="adj" fmla="val 10000"/>
            </a:avLst>
          </a:prstGeom>
          <a:solidFill>
            <a:srgbClr val="FFFCF7"/>
          </a:solidFill>
          <a:ln w="10160">
            <a:solidFill>
              <a:srgbClr val="E7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89320" y="2990088"/>
            <a:ext cx="68580" cy="1234440"/>
          </a:xfrm>
          <a:prstGeom prst="rect">
            <a:avLst/>
          </a:prstGeom>
          <a:solidFill>
            <a:srgbClr val="E0A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72200" y="3127248"/>
            <a:ext cx="5120640" cy="32004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402219"/>
                </a:solidFill>
                <a:latin typeface="Georgia"/>
              </a:rPr>
              <a:t>Diagnostic value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2200" y="3511296"/>
            <a:ext cx="5120640" cy="63093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E241F"/>
                </a:solidFill>
                <a:latin typeface="Aptos"/>
              </a:rPr>
              <a:t>Tracks line / column information and catches invalid characters before parsing.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89320" y="4443984"/>
            <a:ext cx="5440680" cy="1051560"/>
          </a:xfrm>
          <a:prstGeom prst="roundRect">
            <a:avLst>
              <a:gd name="adj" fmla="val 10000"/>
            </a:avLst>
          </a:prstGeom>
          <a:solidFill>
            <a:srgbClr val="FFFCF7"/>
          </a:solidFill>
          <a:ln w="10160">
            <a:solidFill>
              <a:srgbClr val="E7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989320" y="4443984"/>
            <a:ext cx="68580" cy="1051560"/>
          </a:xfrm>
          <a:prstGeom prst="rect">
            <a:avLst/>
          </a:prstGeom>
          <a:solidFill>
            <a:srgbClr val="667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72200" y="4581144"/>
            <a:ext cx="5120640" cy="32004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402219"/>
                </a:solidFill>
                <a:latin typeface="Georgia"/>
              </a:rPr>
              <a:t>Demo 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72200" y="4965192"/>
            <a:ext cx="5120640" cy="448055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E241F"/>
                </a:solidFill>
                <a:latin typeface="Aptos"/>
              </a:rPr>
              <a:t>Main query: 98 tokens recognized (excluding EOF).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0881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45643"/>
                </a:solidFill>
                <a:latin typeface="Aptos"/>
              </a:rPr>
              <a:t>STAGE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94360"/>
            <a:ext cx="1097280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402219"/>
                </a:solidFill>
                <a:latin typeface="Georgia"/>
              </a:rPr>
              <a:t>Parsing: tokens become an abstract syntax tree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1124712"/>
            <a:ext cx="594360" cy="50292"/>
          </a:xfrm>
          <a:prstGeom prst="rect">
            <a:avLst/>
          </a:prstGeom>
          <a:solidFill>
            <a:srgbClr val="E0A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8138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7D6A5F"/>
                </a:solidFill>
                <a:latin typeface="Aptos"/>
              </a:rPr>
              <a:t>COSTRA  •  COMPILER DESIGN LABORATORY  •  FINAL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02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>
                <a:solidFill>
                  <a:srgbClr val="7D6A5F"/>
                </a:solidFill>
                <a:latin typeface="Aptos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508760"/>
            <a:ext cx="5120640" cy="4480560"/>
          </a:xfrm>
          <a:prstGeom prst="roundRect">
            <a:avLst>
              <a:gd name="adj" fmla="val 10000"/>
            </a:avLst>
          </a:prstGeom>
          <a:solidFill>
            <a:srgbClr val="211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" y="1600200"/>
            <a:ext cx="480974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E0AA3A"/>
                </a:solidFill>
                <a:latin typeface="Aptos"/>
              </a:rPr>
              <a:t>AST EXCERPT (SIMPLIFIED FOR READABILITY)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1828800"/>
            <a:ext cx="4791455" cy="40873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80" b="0" i="0">
                <a:solidFill>
                  <a:srgbClr val="F9F0E4"/>
                </a:solidFill>
                <a:latin typeface="Aptos Mono"/>
              </a:rPr>
              <a:t>SELECT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80" b="0" i="0">
                <a:solidFill>
                  <a:srgbClr val="F9F0E4"/>
                </a:solidFill>
                <a:latin typeface="Aptos Mono"/>
              </a:rPr>
              <a:t>  SELECT_ITEM AS department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80" b="0" i="0">
                <a:solidFill>
                  <a:srgbClr val="F9F0E4"/>
                </a:solidFill>
                <a:latin typeface="Aptos Mono"/>
              </a:rPr>
              <a:t>    COLUMN d.name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80" b="0" i="0">
                <a:solidFill>
                  <a:srgbClr val="F9F0E4"/>
                </a:solidFill>
                <a:latin typeface="Aptos Mono"/>
              </a:rPr>
              <a:t>  SELECT_ITEM AS employee_count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80" b="0" i="0">
                <a:solidFill>
                  <a:srgbClr val="F9F0E4"/>
                </a:solidFill>
                <a:latin typeface="Aptos Mono"/>
              </a:rPr>
              <a:t>    FUNCTION COUNT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80" b="0" i="0">
                <a:solidFill>
                  <a:srgbClr val="F9F0E4"/>
                </a:solidFill>
                <a:latin typeface="Aptos Mono"/>
              </a:rPr>
              <a:t>      COLUMN e.id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80" b="0" i="0">
                <a:solidFill>
                  <a:srgbClr val="F9F0E4"/>
                </a:solidFill>
                <a:latin typeface="Aptos Mono"/>
              </a:rPr>
              <a:t>  SELECT_ITEM AS average_salary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80" b="0" i="0">
                <a:solidFill>
                  <a:srgbClr val="F9F0E4"/>
                </a:solidFill>
                <a:latin typeface="Aptos Mono"/>
              </a:rPr>
              <a:t>    FUNCTION AVG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80" b="0" i="0">
                <a:solidFill>
                  <a:srgbClr val="F9F0E4"/>
                </a:solidFill>
                <a:latin typeface="Aptos Mono"/>
              </a:rPr>
              <a:t>      COLUMN e.salary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80" b="0" i="0">
                <a:solidFill>
                  <a:srgbClr val="F9F0E4"/>
                </a:solidFill>
                <a:latin typeface="Aptos Mono"/>
              </a:rPr>
              <a:t>FROM Employee AS e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80" b="0" i="0">
                <a:solidFill>
                  <a:srgbClr val="F9F0E4"/>
                </a:solidFill>
                <a:latin typeface="Aptos Mono"/>
              </a:rPr>
              <a:t>  INNER JOIN Department AS d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80" b="0" i="0">
                <a:solidFill>
                  <a:srgbClr val="F9F0E4"/>
                </a:solidFill>
                <a:latin typeface="Aptos Mono"/>
              </a:rPr>
              <a:t>  INNER JOIN Assignment AS a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80" b="0" i="0">
                <a:solidFill>
                  <a:srgbClr val="F9F0E4"/>
                </a:solidFill>
                <a:latin typeface="Aptos Mono"/>
              </a:rPr>
              <a:t>  INNER JOIN Project AS p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80" b="0" i="0">
                <a:solidFill>
                  <a:srgbClr val="F9F0E4"/>
                </a:solidFill>
                <a:latin typeface="Aptos Mono"/>
              </a:rPr>
              <a:t>WHERE ...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80" b="0" i="0">
                <a:solidFill>
                  <a:srgbClr val="F9F0E4"/>
                </a:solidFill>
                <a:latin typeface="Aptos Mono"/>
              </a:rPr>
              <a:t>GROUP BY d.name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80" b="0" i="0">
                <a:solidFill>
                  <a:srgbClr val="F9F0E4"/>
                </a:solidFill>
                <a:latin typeface="Aptos Mono"/>
              </a:rPr>
              <a:t>HAVING ...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80" b="0" i="0">
                <a:solidFill>
                  <a:srgbClr val="F9F0E4"/>
                </a:solidFill>
                <a:latin typeface="Aptos Mono"/>
              </a:rPr>
              <a:t>ORDER BY ... DESC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80" b="0" i="0">
                <a:solidFill>
                  <a:srgbClr val="F9F0E4"/>
                </a:solidFill>
                <a:latin typeface="Aptos Mono"/>
              </a:rPr>
              <a:t>LIMIT 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00200"/>
            <a:ext cx="5166360" cy="1115568"/>
          </a:xfrm>
          <a:prstGeom prst="roundRect">
            <a:avLst>
              <a:gd name="adj" fmla="val 10000"/>
            </a:avLst>
          </a:prstGeom>
          <a:solidFill>
            <a:srgbClr val="FFFCF7"/>
          </a:solidFill>
          <a:ln w="10160">
            <a:solidFill>
              <a:srgbClr val="E7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600200"/>
            <a:ext cx="68580" cy="1115568"/>
          </a:xfrm>
          <a:prstGeom prst="rect">
            <a:avLst/>
          </a:prstGeom>
          <a:solidFill>
            <a:srgbClr val="C45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737360"/>
            <a:ext cx="4846320" cy="32004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402219"/>
                </a:solidFill>
                <a:latin typeface="Georgia"/>
              </a:rPr>
              <a:t>Grammar and precedence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121408"/>
            <a:ext cx="4846320" cy="512063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E241F"/>
                </a:solidFill>
                <a:latin typeface="Aptos"/>
              </a:rPr>
              <a:t>Recursive-descent parsing applies operator precedence and validates clause order.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926080"/>
            <a:ext cx="5166360" cy="1115568"/>
          </a:xfrm>
          <a:prstGeom prst="roundRect">
            <a:avLst>
              <a:gd name="adj" fmla="val 10000"/>
            </a:avLst>
          </a:prstGeom>
          <a:solidFill>
            <a:srgbClr val="FFFCF7"/>
          </a:solidFill>
          <a:ln w="10160">
            <a:solidFill>
              <a:srgbClr val="E7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2926080"/>
            <a:ext cx="68580" cy="1115568"/>
          </a:xfrm>
          <a:prstGeom prst="rect">
            <a:avLst/>
          </a:prstGeom>
          <a:solidFill>
            <a:srgbClr val="E0A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3063240"/>
            <a:ext cx="4846320" cy="32004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402219"/>
                </a:solidFill>
                <a:latin typeface="Georgia"/>
              </a:rPr>
              <a:t>AST purpose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447288"/>
            <a:ext cx="4846320" cy="512063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E241F"/>
                </a:solidFill>
                <a:latin typeface="Aptos"/>
              </a:rPr>
              <a:t>Represents query structure without keeping every punctuation token as a node.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4251960"/>
            <a:ext cx="5166360" cy="1115568"/>
          </a:xfrm>
          <a:prstGeom prst="roundRect">
            <a:avLst>
              <a:gd name="adj" fmla="val 10000"/>
            </a:avLst>
          </a:prstGeom>
          <a:solidFill>
            <a:srgbClr val="FFFCF7"/>
          </a:solidFill>
          <a:ln w="10160">
            <a:solidFill>
              <a:srgbClr val="E7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4251960"/>
            <a:ext cx="68580" cy="1115568"/>
          </a:xfrm>
          <a:prstGeom prst="rect">
            <a:avLst/>
          </a:prstGeom>
          <a:solidFill>
            <a:srgbClr val="667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4389120"/>
            <a:ext cx="4846320" cy="32004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402219"/>
                </a:solidFill>
                <a:latin typeface="Georgia"/>
              </a:rPr>
              <a:t>Fail-fast behavior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773168"/>
            <a:ext cx="4846320" cy="512063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E241F"/>
                </a:solidFill>
                <a:latin typeface="Aptos"/>
              </a:rPr>
              <a:t>Malformed SELECT syntax is rejected before semantic analysis or execution.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0881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45643"/>
                </a:solidFill>
                <a:latin typeface="Aptos"/>
              </a:rPr>
              <a:t>STAGE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94360"/>
            <a:ext cx="1097280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402219"/>
                </a:solidFill>
                <a:latin typeface="Georgia"/>
              </a:rPr>
              <a:t>Semantic analysis: are names and references valid?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1124712"/>
            <a:ext cx="594360" cy="50292"/>
          </a:xfrm>
          <a:prstGeom prst="rect">
            <a:avLst/>
          </a:prstGeom>
          <a:solidFill>
            <a:srgbClr val="E0A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8138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7D6A5F"/>
                </a:solidFill>
                <a:latin typeface="Aptos"/>
              </a:rPr>
              <a:t>COSTRA  •  COMPILER DESIGN LABORATORY  •  FINAL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02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>
                <a:solidFill>
                  <a:srgbClr val="7D6A5F"/>
                </a:solidFill>
                <a:latin typeface="Aptos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554480"/>
            <a:ext cx="5257800" cy="1097280"/>
          </a:xfrm>
          <a:prstGeom prst="roundRect">
            <a:avLst>
              <a:gd name="adj" fmla="val 10000"/>
            </a:avLst>
          </a:prstGeom>
          <a:solidFill>
            <a:srgbClr val="FFFCF7"/>
          </a:solidFill>
          <a:ln w="10160">
            <a:solidFill>
              <a:srgbClr val="E7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554480"/>
            <a:ext cx="68580" cy="1097280"/>
          </a:xfrm>
          <a:prstGeom prst="rect">
            <a:avLst/>
          </a:prstGeom>
          <a:solidFill>
            <a:srgbClr val="667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691639"/>
            <a:ext cx="4937760" cy="32004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402219"/>
                </a:solidFill>
                <a:latin typeface="Georgia"/>
              </a:rPr>
              <a:t>Alias map from demo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075688"/>
            <a:ext cx="4937760" cy="493775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50" b="0" i="0">
                <a:solidFill>
                  <a:srgbClr val="2E241F"/>
                </a:solidFill>
                <a:latin typeface="Aptos"/>
              </a:rPr>
              <a:t>e → Employee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50" b="0" i="0">
                <a:solidFill>
                  <a:srgbClr val="2E241F"/>
                </a:solidFill>
                <a:latin typeface="Aptos"/>
              </a:rPr>
              <a:t>d → Department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50" b="0" i="0">
                <a:solidFill>
                  <a:srgbClr val="2E241F"/>
                </a:solidFill>
                <a:latin typeface="Aptos"/>
              </a:rPr>
              <a:t>a → Assignment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50" b="0" i="0">
                <a:solidFill>
                  <a:srgbClr val="2E241F"/>
                </a:solidFill>
                <a:latin typeface="Aptos"/>
              </a:rPr>
              <a:t>p → Project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880360"/>
            <a:ext cx="5257800" cy="1143000"/>
          </a:xfrm>
          <a:prstGeom prst="roundRect">
            <a:avLst>
              <a:gd name="adj" fmla="val 10000"/>
            </a:avLst>
          </a:prstGeom>
          <a:solidFill>
            <a:srgbClr val="FFFCF7"/>
          </a:solidFill>
          <a:ln w="10160">
            <a:solidFill>
              <a:srgbClr val="E7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2880360"/>
            <a:ext cx="68580" cy="1143000"/>
          </a:xfrm>
          <a:prstGeom prst="rect">
            <a:avLst/>
          </a:prstGeom>
          <a:solidFill>
            <a:srgbClr val="C45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017520"/>
            <a:ext cx="4937760" cy="32004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402219"/>
                </a:solidFill>
                <a:latin typeface="Georgia"/>
              </a:rPr>
              <a:t>Successful query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401568"/>
            <a:ext cx="4937760" cy="53949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80" b="0" i="0">
                <a:solidFill>
                  <a:srgbClr val="2E241F"/>
                </a:solidFill>
                <a:latin typeface="Aptos"/>
              </a:rPr>
              <a:t>All referenced tables, aliases and columns resolve; aggregate placement and grouping rules are checked for the supported subset.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1554480"/>
            <a:ext cx="5166360" cy="1234440"/>
          </a:xfrm>
          <a:prstGeom prst="roundRect">
            <a:avLst>
              <a:gd name="adj" fmla="val 10000"/>
            </a:avLst>
          </a:prstGeom>
          <a:solidFill>
            <a:srgbClr val="211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645920"/>
            <a:ext cx="485546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E0AA3A"/>
                </a:solidFill>
                <a:latin typeface="Aptos"/>
              </a:rPr>
              <a:t>DELIBERATELY INVALID QUERY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8231" y="1874519"/>
            <a:ext cx="4837176" cy="84124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F9F0E4"/>
                </a:solidFill>
                <a:latin typeface="Aptos Mono"/>
              </a:rPr>
              <a:t>SELECT e.unknown_column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F9F0E4"/>
                </a:solidFill>
                <a:latin typeface="Aptos Mono"/>
              </a:rPr>
              <a:t>FROM Employee e;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3063240"/>
            <a:ext cx="5166360" cy="1051560"/>
          </a:xfrm>
          <a:prstGeom prst="roundRect">
            <a:avLst>
              <a:gd name="adj" fmla="val 10000"/>
            </a:avLst>
          </a:prstGeom>
          <a:solidFill>
            <a:srgbClr val="F0E5D5"/>
          </a:solidFill>
          <a:ln w="10160">
            <a:solidFill>
              <a:srgbClr val="E7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3246120"/>
            <a:ext cx="4800600" cy="7132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A74C40"/>
                </a:solidFill>
                <a:latin typeface="Aptos Mono"/>
              </a:rPr>
              <a:t>SEMANTIC ANALYSIS FAILED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A74C40"/>
                </a:solidFill>
                <a:latin typeface="Aptos Mono"/>
              </a:rPr>
              <a:t>Unknown column: e.unknown_column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4389120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1">
                <a:solidFill>
                  <a:srgbClr val="7D6A5F"/>
                </a:solidFill>
                <a:latin typeface="Aptos"/>
              </a:rPr>
              <a:t>SQLite is not called after this failure.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0881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45643"/>
                </a:solidFill>
                <a:latin typeface="Aptos"/>
              </a:rPr>
              <a:t>STAGE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94360"/>
            <a:ext cx="1097280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402219"/>
                </a:solidFill>
                <a:latin typeface="Georgia"/>
              </a:rPr>
              <a:t>Relational IR: express the query as logical operations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1124712"/>
            <a:ext cx="594360" cy="50292"/>
          </a:xfrm>
          <a:prstGeom prst="rect">
            <a:avLst/>
          </a:prstGeom>
          <a:solidFill>
            <a:srgbClr val="E0A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8138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7D6A5F"/>
                </a:solidFill>
                <a:latin typeface="Aptos"/>
              </a:rPr>
              <a:t>COSTRA  •  COMPILER DESIGN LABORATORY  •  FINAL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02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>
                <a:solidFill>
                  <a:srgbClr val="7D6A5F"/>
                </a:solidFill>
                <a:latin typeface="Aptos"/>
              </a:rP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481328"/>
            <a:ext cx="7086600" cy="4553712"/>
          </a:xfrm>
          <a:prstGeom prst="roundRect">
            <a:avLst>
              <a:gd name="adj" fmla="val 10000"/>
            </a:avLst>
          </a:prstGeom>
          <a:solidFill>
            <a:srgbClr val="211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" y="1572768"/>
            <a:ext cx="677570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E0AA3A"/>
                </a:solidFill>
                <a:latin typeface="Aptos"/>
              </a:rPr>
              <a:t>LOGICAL PLAN EXCERPT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1801368"/>
            <a:ext cx="6757416" cy="41605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F9F0E4"/>
                </a:solidFill>
                <a:latin typeface="Aptos Mono"/>
              </a:rPr>
              <a:t>PROJECT [d.name, COUNT(e.id), AVG(e.salary)]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F9F0E4"/>
                </a:solidFill>
                <a:latin typeface="Aptos Mono"/>
              </a:rPr>
              <a:t>  LIMIT [5]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F9F0E4"/>
                </a:solidFill>
                <a:latin typeface="Aptos Mono"/>
              </a:rPr>
              <a:t>    SORT [AVG(e.salary) DESC]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F9F0E4"/>
                </a:solidFill>
                <a:latin typeface="Aptos Mono"/>
              </a:rPr>
              <a:t>      HAVING [(AVG(e.salary) &gt; 65000)]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F9F0E4"/>
                </a:solidFill>
                <a:latin typeface="Aptos Mono"/>
              </a:rPr>
              <a:t>        AGGREGATE [d.name]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F9F0E4"/>
                </a:solidFill>
                <a:latin typeface="Aptos Mono"/>
              </a:rPr>
              <a:t>          FILTER [salary + budget predicates]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F9F0E4"/>
                </a:solidFill>
                <a:latin typeface="Aptos Mono"/>
              </a:rPr>
              <a:t>            JOIN [Employee ↔ Department]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F9F0E4"/>
                </a:solidFill>
                <a:latin typeface="Aptos Mono"/>
              </a:rPr>
              <a:t>              JOIN [Employee ↔ Assignment]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F9F0E4"/>
                </a:solidFill>
                <a:latin typeface="Aptos Mono"/>
              </a:rPr>
              <a:t>                JOIN [Assignment ↔ Project]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F9F0E4"/>
                </a:solidFill>
                <a:latin typeface="Aptos Mono"/>
              </a:rPr>
              <a:t>                  TABLE_SCAN [Employee AS e]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F9F0E4"/>
                </a:solidFill>
                <a:latin typeface="Aptos Mono"/>
              </a:rPr>
              <a:t>                  TABLE_SCAN [Department AS d]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F9F0E4"/>
                </a:solidFill>
                <a:latin typeface="Aptos Mono"/>
              </a:rPr>
              <a:t>                TABLE_SCAN [Assignment AS a]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F9F0E4"/>
                </a:solidFill>
                <a:latin typeface="Aptos Mono"/>
              </a:rPr>
              <a:t>              TABLE_SCAN [Project AS p]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737360"/>
            <a:ext cx="3291840" cy="1170432"/>
          </a:xfrm>
          <a:prstGeom prst="roundRect">
            <a:avLst>
              <a:gd name="adj" fmla="val 10000"/>
            </a:avLst>
          </a:prstGeom>
          <a:solidFill>
            <a:srgbClr val="FFFCF7"/>
          </a:solidFill>
          <a:ln w="10160">
            <a:solidFill>
              <a:srgbClr val="E7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138160" y="1737360"/>
            <a:ext cx="68580" cy="1170432"/>
          </a:xfrm>
          <a:prstGeom prst="rect">
            <a:avLst/>
          </a:prstGeom>
          <a:solidFill>
            <a:srgbClr val="C45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1874519"/>
            <a:ext cx="2971800" cy="32004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402219"/>
                </a:solidFill>
                <a:latin typeface="Georgia"/>
              </a:rPr>
              <a:t>Why not SQL text?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258568"/>
            <a:ext cx="2971800" cy="56692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30" b="0" i="0">
                <a:solidFill>
                  <a:srgbClr val="2E241F"/>
                </a:solidFill>
                <a:latin typeface="Aptos"/>
              </a:rPr>
              <a:t>IR separates logical intent from the original clause formatting.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3127248"/>
            <a:ext cx="3291840" cy="1170432"/>
          </a:xfrm>
          <a:prstGeom prst="roundRect">
            <a:avLst>
              <a:gd name="adj" fmla="val 10000"/>
            </a:avLst>
          </a:prstGeom>
          <a:solidFill>
            <a:srgbClr val="FFFCF7"/>
          </a:solidFill>
          <a:ln w="10160">
            <a:solidFill>
              <a:srgbClr val="E7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3127248"/>
            <a:ext cx="68580" cy="1170432"/>
          </a:xfrm>
          <a:prstGeom prst="rect">
            <a:avLst/>
          </a:prstGeom>
          <a:solidFill>
            <a:srgbClr val="E0A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3264408"/>
            <a:ext cx="2971800" cy="32004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402219"/>
                </a:solidFill>
                <a:latin typeface="Georgia"/>
              </a:rPr>
              <a:t>Useful nodes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3648456"/>
            <a:ext cx="2971800" cy="56692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30" b="0" i="0">
                <a:solidFill>
                  <a:srgbClr val="2E241F"/>
                </a:solidFill>
                <a:latin typeface="Aptos"/>
              </a:rPr>
              <a:t>Scan, join, filter, aggregate, HAVING filter, sort, limit and project.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4517136"/>
            <a:ext cx="3291840" cy="1170432"/>
          </a:xfrm>
          <a:prstGeom prst="roundRect">
            <a:avLst>
              <a:gd name="adj" fmla="val 10000"/>
            </a:avLst>
          </a:prstGeom>
          <a:solidFill>
            <a:srgbClr val="FFFCF7"/>
          </a:solidFill>
          <a:ln w="10160">
            <a:solidFill>
              <a:srgbClr val="E7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38160" y="4517136"/>
            <a:ext cx="68580" cy="1170432"/>
          </a:xfrm>
          <a:prstGeom prst="rect">
            <a:avLst/>
          </a:prstGeom>
          <a:solidFill>
            <a:srgbClr val="667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4654296"/>
            <a:ext cx="2971800" cy="32004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402219"/>
                </a:solidFill>
                <a:latin typeface="Georgia"/>
              </a:rPr>
              <a:t>For the viva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5038344"/>
            <a:ext cx="2971800" cy="56692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30" b="0" i="0">
                <a:solidFill>
                  <a:srgbClr val="2E241F"/>
                </a:solidFill>
                <a:latin typeface="Aptos"/>
              </a:rPr>
              <a:t>Explain the path from parsed clauses to relational operators.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0881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45643"/>
                </a:solidFill>
                <a:latin typeface="Aptos"/>
              </a:rPr>
              <a:t>STAGE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94360"/>
            <a:ext cx="1097280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402219"/>
                </a:solidFill>
                <a:latin typeface="Georgia"/>
              </a:rPr>
              <a:t>Cardinality: the optimizer estimates how many rows flow through operators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1124712"/>
            <a:ext cx="594360" cy="50292"/>
          </a:xfrm>
          <a:prstGeom prst="rect">
            <a:avLst/>
          </a:prstGeom>
          <a:solidFill>
            <a:srgbClr val="E0A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8138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7D6A5F"/>
                </a:solidFill>
                <a:latin typeface="Aptos"/>
              </a:rPr>
              <a:t>COSTRA  •  COMPILER DESIGN LABORATORY  •  FINAL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02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>
                <a:solidFill>
                  <a:srgbClr val="7D6A5F"/>
                </a:solidFill>
                <a:latin typeface="Aptos"/>
              </a:rPr>
              <a:t>14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00200"/>
            <a:ext cx="2926080" cy="530352"/>
          </a:xfrm>
          <a:prstGeom prst="rect">
            <a:avLst/>
          </a:prstGeom>
          <a:solidFill>
            <a:srgbClr val="402219"/>
          </a:solidFill>
          <a:ln w="10160">
            <a:solidFill>
              <a:srgbClr val="E7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627632"/>
            <a:ext cx="2798064" cy="475488"/>
          </a:xfrm>
          <a:prstGeom prst="rect">
            <a:avLst/>
          </a:prstGeom>
          <a:noFill/>
        </p:spPr>
        <p:txBody>
          <a:bodyPr wrap="square" lIns="4572" rIns="4572" tIns="4572" bIns="457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CF7"/>
                </a:solidFill>
                <a:latin typeface="Aptos"/>
              </a:rPr>
              <a:t>Relation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0" y="1600200"/>
            <a:ext cx="1920240" cy="530352"/>
          </a:xfrm>
          <a:prstGeom prst="rect">
            <a:avLst/>
          </a:prstGeom>
          <a:solidFill>
            <a:srgbClr val="402219"/>
          </a:solidFill>
          <a:ln w="10160">
            <a:solidFill>
              <a:srgbClr val="E7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21608" y="1627632"/>
            <a:ext cx="1792224" cy="475488"/>
          </a:xfrm>
          <a:prstGeom prst="rect">
            <a:avLst/>
          </a:prstGeom>
          <a:noFill/>
        </p:spPr>
        <p:txBody>
          <a:bodyPr wrap="square" lIns="4572" rIns="4572" tIns="4572" bIns="457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CF7"/>
                </a:solidFill>
                <a:latin typeface="Aptos"/>
              </a:rPr>
              <a:t>Synthetic rows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77840" y="1600200"/>
            <a:ext cx="2148840" cy="530352"/>
          </a:xfrm>
          <a:prstGeom prst="rect">
            <a:avLst/>
          </a:prstGeom>
          <a:solidFill>
            <a:srgbClr val="402219"/>
          </a:solidFill>
          <a:ln w="10160">
            <a:solidFill>
              <a:srgbClr val="E7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41848" y="1627632"/>
            <a:ext cx="2020824" cy="475488"/>
          </a:xfrm>
          <a:prstGeom prst="rect">
            <a:avLst/>
          </a:prstGeom>
          <a:noFill/>
        </p:spPr>
        <p:txBody>
          <a:bodyPr wrap="square" lIns="4572" rIns="4572" tIns="4572" bIns="457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CF7"/>
                </a:solidFill>
                <a:latin typeface="Aptos"/>
              </a:rPr>
              <a:t>Used for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130552"/>
            <a:ext cx="2926080" cy="530352"/>
          </a:xfrm>
          <a:prstGeom prst="rect">
            <a:avLst/>
          </a:prstGeom>
          <a:solidFill>
            <a:srgbClr val="FFFCF7"/>
          </a:solidFill>
          <a:ln w="10160">
            <a:solidFill>
              <a:srgbClr val="E7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8" y="2157984"/>
            <a:ext cx="2798064" cy="475488"/>
          </a:xfrm>
          <a:prstGeom prst="rect">
            <a:avLst/>
          </a:prstGeom>
          <a:noFill/>
        </p:spPr>
        <p:txBody>
          <a:bodyPr wrap="square" lIns="4572" rIns="4572" tIns="4572" bIns="457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E241F"/>
                </a:solidFill>
                <a:latin typeface="Aptos"/>
              </a:rPr>
              <a:t>Employee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0" y="2130552"/>
            <a:ext cx="1920240" cy="530352"/>
          </a:xfrm>
          <a:prstGeom prst="rect">
            <a:avLst/>
          </a:prstGeom>
          <a:solidFill>
            <a:srgbClr val="FFFCF7"/>
          </a:solidFill>
          <a:ln w="10160">
            <a:solidFill>
              <a:srgbClr val="E7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21608" y="2157984"/>
            <a:ext cx="1792224" cy="475488"/>
          </a:xfrm>
          <a:prstGeom prst="rect">
            <a:avLst/>
          </a:prstGeom>
          <a:noFill/>
        </p:spPr>
        <p:txBody>
          <a:bodyPr wrap="square" lIns="4572" rIns="4572" tIns="4572" bIns="457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E241F"/>
                </a:solidFill>
                <a:latin typeface="Aptos"/>
              </a:rPr>
              <a:t>10,000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577840" y="2130552"/>
            <a:ext cx="2148840" cy="530352"/>
          </a:xfrm>
          <a:prstGeom prst="rect">
            <a:avLst/>
          </a:prstGeom>
          <a:solidFill>
            <a:srgbClr val="FFFCF7"/>
          </a:solidFill>
          <a:ln w="10160">
            <a:solidFill>
              <a:srgbClr val="E7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41848" y="2157984"/>
            <a:ext cx="2020824" cy="475488"/>
          </a:xfrm>
          <a:prstGeom prst="rect">
            <a:avLst/>
          </a:prstGeom>
          <a:noFill/>
        </p:spPr>
        <p:txBody>
          <a:bodyPr wrap="square" lIns="4572" rIns="4572" tIns="4572" bIns="457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E241F"/>
                </a:solidFill>
                <a:latin typeface="Aptos"/>
              </a:rPr>
              <a:t>filter / joins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2660904"/>
            <a:ext cx="2926080" cy="530352"/>
          </a:xfrm>
          <a:prstGeom prst="rect">
            <a:avLst/>
          </a:prstGeom>
          <a:solidFill>
            <a:srgbClr val="FBF7EF"/>
          </a:solidFill>
          <a:ln w="10160">
            <a:solidFill>
              <a:srgbClr val="E7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5528" y="2688336"/>
            <a:ext cx="2798064" cy="475488"/>
          </a:xfrm>
          <a:prstGeom prst="rect">
            <a:avLst/>
          </a:prstGeom>
          <a:noFill/>
        </p:spPr>
        <p:txBody>
          <a:bodyPr wrap="square" lIns="4572" rIns="4572" tIns="4572" bIns="457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E241F"/>
                </a:solidFill>
                <a:latin typeface="Aptos"/>
              </a:rPr>
              <a:t>Department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0" y="2660904"/>
            <a:ext cx="1920240" cy="530352"/>
          </a:xfrm>
          <a:prstGeom prst="rect">
            <a:avLst/>
          </a:prstGeom>
          <a:solidFill>
            <a:srgbClr val="FBF7EF"/>
          </a:solidFill>
          <a:ln w="10160">
            <a:solidFill>
              <a:srgbClr val="E7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21608" y="2688336"/>
            <a:ext cx="1792224" cy="475488"/>
          </a:xfrm>
          <a:prstGeom prst="rect">
            <a:avLst/>
          </a:prstGeom>
          <a:noFill/>
        </p:spPr>
        <p:txBody>
          <a:bodyPr wrap="square" lIns="4572" rIns="4572" tIns="4572" bIns="457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E241F"/>
                </a:solidFill>
                <a:latin typeface="Aptos"/>
              </a:rPr>
              <a:t>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577840" y="2660904"/>
            <a:ext cx="2148840" cy="530352"/>
          </a:xfrm>
          <a:prstGeom prst="rect">
            <a:avLst/>
          </a:prstGeom>
          <a:solidFill>
            <a:srgbClr val="FBF7EF"/>
          </a:solidFill>
          <a:ln w="10160">
            <a:solidFill>
              <a:srgbClr val="E7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41848" y="2688336"/>
            <a:ext cx="2020824" cy="475488"/>
          </a:xfrm>
          <a:prstGeom prst="rect">
            <a:avLst/>
          </a:prstGeom>
          <a:noFill/>
        </p:spPr>
        <p:txBody>
          <a:bodyPr wrap="square" lIns="4572" rIns="4572" tIns="4572" bIns="457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E241F"/>
                </a:solidFill>
                <a:latin typeface="Aptos"/>
              </a:rPr>
              <a:t>joins / grouping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3191256"/>
            <a:ext cx="2926080" cy="530352"/>
          </a:xfrm>
          <a:prstGeom prst="rect">
            <a:avLst/>
          </a:prstGeom>
          <a:solidFill>
            <a:srgbClr val="FFFCF7"/>
          </a:solidFill>
          <a:ln w="10160">
            <a:solidFill>
              <a:srgbClr val="E7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5528" y="3218687"/>
            <a:ext cx="2798064" cy="475488"/>
          </a:xfrm>
          <a:prstGeom prst="rect">
            <a:avLst/>
          </a:prstGeom>
          <a:noFill/>
        </p:spPr>
        <p:txBody>
          <a:bodyPr wrap="square" lIns="4572" rIns="4572" tIns="4572" bIns="457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E241F"/>
                </a:solidFill>
                <a:latin typeface="Aptos"/>
              </a:rPr>
              <a:t>Project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0" y="3191256"/>
            <a:ext cx="1920240" cy="530352"/>
          </a:xfrm>
          <a:prstGeom prst="rect">
            <a:avLst/>
          </a:prstGeom>
          <a:solidFill>
            <a:srgbClr val="FFFCF7"/>
          </a:solidFill>
          <a:ln w="10160">
            <a:solidFill>
              <a:srgbClr val="E7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721608" y="3218687"/>
            <a:ext cx="1792224" cy="475488"/>
          </a:xfrm>
          <a:prstGeom prst="rect">
            <a:avLst/>
          </a:prstGeom>
          <a:noFill/>
        </p:spPr>
        <p:txBody>
          <a:bodyPr wrap="square" lIns="4572" rIns="4572" tIns="4572" bIns="457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E241F"/>
                </a:solidFill>
                <a:latin typeface="Aptos"/>
              </a:rPr>
              <a:t>1,200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577840" y="3191256"/>
            <a:ext cx="2148840" cy="530352"/>
          </a:xfrm>
          <a:prstGeom prst="rect">
            <a:avLst/>
          </a:prstGeom>
          <a:solidFill>
            <a:srgbClr val="FFFCF7"/>
          </a:solidFill>
          <a:ln w="10160">
            <a:solidFill>
              <a:srgbClr val="E7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641848" y="3218687"/>
            <a:ext cx="2020824" cy="475488"/>
          </a:xfrm>
          <a:prstGeom prst="rect">
            <a:avLst/>
          </a:prstGeom>
          <a:noFill/>
        </p:spPr>
        <p:txBody>
          <a:bodyPr wrap="square" lIns="4572" rIns="4572" tIns="4572" bIns="457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E241F"/>
                </a:solidFill>
                <a:latin typeface="Aptos"/>
              </a:rPr>
              <a:t>budget predicate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" y="3721608"/>
            <a:ext cx="2926080" cy="530352"/>
          </a:xfrm>
          <a:prstGeom prst="rect">
            <a:avLst/>
          </a:prstGeom>
          <a:solidFill>
            <a:srgbClr val="FBF7EF"/>
          </a:solidFill>
          <a:ln w="10160">
            <a:solidFill>
              <a:srgbClr val="E7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5528" y="3749040"/>
            <a:ext cx="2798064" cy="475488"/>
          </a:xfrm>
          <a:prstGeom prst="rect">
            <a:avLst/>
          </a:prstGeom>
          <a:noFill/>
        </p:spPr>
        <p:txBody>
          <a:bodyPr wrap="square" lIns="4572" rIns="4572" tIns="4572" bIns="457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E241F"/>
                </a:solidFill>
                <a:latin typeface="Aptos"/>
              </a:rPr>
              <a:t>Assignment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0" y="3721608"/>
            <a:ext cx="1920240" cy="530352"/>
          </a:xfrm>
          <a:prstGeom prst="rect">
            <a:avLst/>
          </a:prstGeom>
          <a:solidFill>
            <a:srgbClr val="FBF7EF"/>
          </a:solidFill>
          <a:ln w="10160">
            <a:solidFill>
              <a:srgbClr val="E7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721608" y="3749040"/>
            <a:ext cx="1792224" cy="475488"/>
          </a:xfrm>
          <a:prstGeom prst="rect">
            <a:avLst/>
          </a:prstGeom>
          <a:noFill/>
        </p:spPr>
        <p:txBody>
          <a:bodyPr wrap="square" lIns="4572" rIns="4572" tIns="4572" bIns="457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E241F"/>
                </a:solidFill>
                <a:latin typeface="Aptos"/>
              </a:rPr>
              <a:t>30,000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577840" y="3721608"/>
            <a:ext cx="2148840" cy="530352"/>
          </a:xfrm>
          <a:prstGeom prst="rect">
            <a:avLst/>
          </a:prstGeom>
          <a:solidFill>
            <a:srgbClr val="FBF7EF"/>
          </a:solidFill>
          <a:ln w="10160">
            <a:solidFill>
              <a:srgbClr val="E7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641848" y="3749040"/>
            <a:ext cx="2020824" cy="475488"/>
          </a:xfrm>
          <a:prstGeom prst="rect">
            <a:avLst/>
          </a:prstGeom>
          <a:noFill/>
        </p:spPr>
        <p:txBody>
          <a:bodyPr wrap="square" lIns="4572" rIns="4572" tIns="4572" bIns="457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E241F"/>
                </a:solidFill>
                <a:latin typeface="Aptos"/>
              </a:rPr>
              <a:t>join size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92440" y="1664208"/>
            <a:ext cx="3429000" cy="1371600"/>
          </a:xfrm>
          <a:prstGeom prst="roundRect">
            <a:avLst>
              <a:gd name="adj" fmla="val 10000"/>
            </a:avLst>
          </a:prstGeom>
          <a:solidFill>
            <a:srgbClr val="FFFCF7"/>
          </a:solidFill>
          <a:ln w="10160">
            <a:solidFill>
              <a:srgbClr val="E7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092440" y="1664208"/>
            <a:ext cx="68580" cy="1371600"/>
          </a:xfrm>
          <a:prstGeom prst="rect">
            <a:avLst/>
          </a:prstGeom>
          <a:solidFill>
            <a:srgbClr val="E0A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75319" y="1801368"/>
            <a:ext cx="3108960" cy="32004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402219"/>
                </a:solidFill>
                <a:latin typeface="Georgia"/>
              </a:rPr>
              <a:t>Estimate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75319" y="2185416"/>
            <a:ext cx="3108960" cy="76809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E241F"/>
                </a:solidFill>
                <a:latin typeface="Aptos"/>
              </a:rPr>
              <a:t>Predicted rows and relative work based on a simple synthetic schema.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092440" y="3310128"/>
            <a:ext cx="3429000" cy="1371600"/>
          </a:xfrm>
          <a:prstGeom prst="roundRect">
            <a:avLst>
              <a:gd name="adj" fmla="val 10000"/>
            </a:avLst>
          </a:prstGeom>
          <a:solidFill>
            <a:srgbClr val="FFFCF7"/>
          </a:solidFill>
          <a:ln w="10160">
            <a:solidFill>
              <a:srgbClr val="E7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092440" y="3310128"/>
            <a:ext cx="68580" cy="1371600"/>
          </a:xfrm>
          <a:prstGeom prst="rect">
            <a:avLst/>
          </a:prstGeom>
          <a:solidFill>
            <a:srgbClr val="667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75319" y="3447288"/>
            <a:ext cx="3108960" cy="32004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402219"/>
                </a:solidFill>
                <a:latin typeface="Georgia"/>
              </a:rPr>
              <a:t>Execution fixture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75319" y="3831336"/>
            <a:ext cx="3108960" cy="76809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E241F"/>
                </a:solidFill>
                <a:latin typeface="Aptos"/>
              </a:rPr>
              <a:t>A much smaller seeded in-memory SQLite database, used to make the demo fast and repeatable.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4672" y="5157216"/>
            <a:ext cx="10424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402219"/>
                </a:solidFill>
                <a:latin typeface="Georgia"/>
              </a:rPr>
              <a:t>Estimated row counts are not expected to match actual sample rows; they describe different dataset assumptions.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0881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45643"/>
                </a:solidFill>
                <a:latin typeface="Aptos"/>
              </a:rPr>
              <a:t>STAGE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94360"/>
            <a:ext cx="1097280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402219"/>
                </a:solidFill>
                <a:latin typeface="Georgia"/>
              </a:rPr>
              <a:t>Plan alternatives: access paths and join algorithms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1124712"/>
            <a:ext cx="594360" cy="50292"/>
          </a:xfrm>
          <a:prstGeom prst="rect">
            <a:avLst/>
          </a:prstGeom>
          <a:solidFill>
            <a:srgbClr val="E0A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8138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7D6A5F"/>
                </a:solidFill>
                <a:latin typeface="Aptos"/>
              </a:rPr>
              <a:t>COSTRA  •  COMPILER DESIGN LABORATORY  •  FINAL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02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>
                <a:solidFill>
                  <a:srgbClr val="7D6A5F"/>
                </a:solidFill>
                <a:latin typeface="Aptos"/>
              </a:rPr>
              <a:t>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508760"/>
            <a:ext cx="3547872" cy="1481328"/>
          </a:xfrm>
          <a:prstGeom prst="roundRect">
            <a:avLst>
              <a:gd name="adj" fmla="val 10000"/>
            </a:avLst>
          </a:prstGeom>
          <a:solidFill>
            <a:srgbClr val="FFFCF7"/>
          </a:solidFill>
          <a:ln w="10160">
            <a:solidFill>
              <a:srgbClr val="E7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508760"/>
            <a:ext cx="68580" cy="1481328"/>
          </a:xfrm>
          <a:prstGeom prst="rect">
            <a:avLst/>
          </a:prstGeom>
          <a:solidFill>
            <a:srgbClr val="C45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1645919"/>
            <a:ext cx="3227832" cy="32004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402219"/>
                </a:solidFill>
                <a:latin typeface="Georgia"/>
              </a:rPr>
              <a:t>Table scan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029967"/>
            <a:ext cx="3227832" cy="87782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E241F"/>
                </a:solidFill>
                <a:latin typeface="Aptos"/>
              </a:rPr>
              <a:t>Reads all rows in the estimated relation. Useful when a large fraction of rows is needed.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508760"/>
            <a:ext cx="3547872" cy="1481328"/>
          </a:xfrm>
          <a:prstGeom prst="roundRect">
            <a:avLst>
              <a:gd name="adj" fmla="val 10000"/>
            </a:avLst>
          </a:prstGeom>
          <a:solidFill>
            <a:srgbClr val="FFFCF7"/>
          </a:solidFill>
          <a:ln w="10160">
            <a:solidFill>
              <a:srgbClr val="E7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508760"/>
            <a:ext cx="68580" cy="1481328"/>
          </a:xfrm>
          <a:prstGeom prst="rect">
            <a:avLst/>
          </a:prstGeom>
          <a:solidFill>
            <a:srgbClr val="E0A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1645919"/>
            <a:ext cx="3227832" cy="32004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402219"/>
                </a:solidFill>
                <a:latin typeface="Georgia"/>
              </a:rPr>
              <a:t>Index path estimate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2029967"/>
            <a:ext cx="3227832" cy="87782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E241F"/>
                </a:solidFill>
                <a:latin typeface="Aptos"/>
              </a:rPr>
              <a:t>Models a cheaper selective lookup when the schema has a matching modelled index.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28431" y="1508760"/>
            <a:ext cx="3547872" cy="1481328"/>
          </a:xfrm>
          <a:prstGeom prst="roundRect">
            <a:avLst>
              <a:gd name="adj" fmla="val 10000"/>
            </a:avLst>
          </a:prstGeom>
          <a:solidFill>
            <a:srgbClr val="FFFCF7"/>
          </a:solidFill>
          <a:ln w="10160">
            <a:solidFill>
              <a:srgbClr val="E7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28431" y="1508760"/>
            <a:ext cx="68580" cy="1481328"/>
          </a:xfrm>
          <a:prstGeom prst="rect">
            <a:avLst/>
          </a:prstGeom>
          <a:solidFill>
            <a:srgbClr val="667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11311" y="1645919"/>
            <a:ext cx="3227832" cy="32004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402219"/>
                </a:solidFill>
                <a:latin typeface="Georgia"/>
              </a:rPr>
              <a:t>Predicate pushdown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11311" y="2029967"/>
            <a:ext cx="3227832" cy="87782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E241F"/>
                </a:solidFill>
                <a:latin typeface="Aptos"/>
              </a:rPr>
              <a:t>Estimates applying single-table filters before joins to reduce rows flowing upward.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0120" y="3520440"/>
            <a:ext cx="2194560" cy="502920"/>
          </a:xfrm>
          <a:prstGeom prst="rect">
            <a:avLst/>
          </a:prstGeom>
          <a:solidFill>
            <a:srgbClr val="402219"/>
          </a:solidFill>
          <a:ln w="10160">
            <a:solidFill>
              <a:srgbClr val="E7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4128" y="3547872"/>
            <a:ext cx="2066543" cy="448056"/>
          </a:xfrm>
          <a:prstGeom prst="rect">
            <a:avLst/>
          </a:prstGeom>
          <a:noFill/>
        </p:spPr>
        <p:txBody>
          <a:bodyPr wrap="square" lIns="4572" rIns="4572" tIns="4572" bIns="457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CF7"/>
                </a:solidFill>
                <a:latin typeface="Aptos"/>
              </a:rPr>
              <a:t>Join method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154680" y="3520440"/>
            <a:ext cx="3200400" cy="502920"/>
          </a:xfrm>
          <a:prstGeom prst="rect">
            <a:avLst/>
          </a:prstGeom>
          <a:solidFill>
            <a:srgbClr val="402219"/>
          </a:solidFill>
          <a:ln w="10160">
            <a:solidFill>
              <a:srgbClr val="E7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18688" y="3547872"/>
            <a:ext cx="3072384" cy="448056"/>
          </a:xfrm>
          <a:prstGeom prst="rect">
            <a:avLst/>
          </a:prstGeom>
          <a:noFill/>
        </p:spPr>
        <p:txBody>
          <a:bodyPr wrap="square" lIns="4572" rIns="4572" tIns="4572" bIns="457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CF7"/>
                </a:solidFill>
                <a:latin typeface="Aptos"/>
              </a:rPr>
              <a:t>Idea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5080" y="3520440"/>
            <a:ext cx="3200400" cy="502920"/>
          </a:xfrm>
          <a:prstGeom prst="rect">
            <a:avLst/>
          </a:prstGeom>
          <a:solidFill>
            <a:srgbClr val="402219"/>
          </a:solidFill>
          <a:ln w="10160">
            <a:solidFill>
              <a:srgbClr val="E7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3547872"/>
            <a:ext cx="3072384" cy="448056"/>
          </a:xfrm>
          <a:prstGeom prst="rect">
            <a:avLst/>
          </a:prstGeom>
          <a:noFill/>
        </p:spPr>
        <p:txBody>
          <a:bodyPr wrap="square" lIns="4572" rIns="4572" tIns="4572" bIns="457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CF7"/>
                </a:solidFill>
                <a:latin typeface="Aptos"/>
              </a:rPr>
              <a:t>COSTRA role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60120" y="4023360"/>
            <a:ext cx="2194560" cy="502920"/>
          </a:xfrm>
          <a:prstGeom prst="rect">
            <a:avLst/>
          </a:prstGeom>
          <a:solidFill>
            <a:srgbClr val="FFFCF7"/>
          </a:solidFill>
          <a:ln w="10160">
            <a:solidFill>
              <a:srgbClr val="E7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24128" y="4050792"/>
            <a:ext cx="2066543" cy="448056"/>
          </a:xfrm>
          <a:prstGeom prst="rect">
            <a:avLst/>
          </a:prstGeom>
          <a:noFill/>
        </p:spPr>
        <p:txBody>
          <a:bodyPr wrap="square" lIns="4572" rIns="4572" tIns="4572" bIns="457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E241F"/>
                </a:solidFill>
                <a:latin typeface="Aptos"/>
              </a:rPr>
              <a:t>Nested loop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154680" y="4023360"/>
            <a:ext cx="3200400" cy="502920"/>
          </a:xfrm>
          <a:prstGeom prst="rect">
            <a:avLst/>
          </a:prstGeom>
          <a:solidFill>
            <a:srgbClr val="FFFCF7"/>
          </a:solidFill>
          <a:ln w="10160">
            <a:solidFill>
              <a:srgbClr val="E7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18688" y="4050792"/>
            <a:ext cx="3072384" cy="448056"/>
          </a:xfrm>
          <a:prstGeom prst="rect">
            <a:avLst/>
          </a:prstGeom>
          <a:noFill/>
        </p:spPr>
        <p:txBody>
          <a:bodyPr wrap="square" lIns="4572" rIns="4572" tIns="4572" bIns="457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E241F"/>
                </a:solidFill>
                <a:latin typeface="Aptos"/>
              </a:rPr>
              <a:t>Compare rows pairwise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55080" y="4023360"/>
            <a:ext cx="3200400" cy="502920"/>
          </a:xfrm>
          <a:prstGeom prst="rect">
            <a:avLst/>
          </a:prstGeom>
          <a:solidFill>
            <a:srgbClr val="FFFCF7"/>
          </a:solidFill>
          <a:ln w="10160">
            <a:solidFill>
              <a:srgbClr val="E7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19088" y="4050792"/>
            <a:ext cx="3072384" cy="448056"/>
          </a:xfrm>
          <a:prstGeom prst="rect">
            <a:avLst/>
          </a:prstGeom>
          <a:noFill/>
        </p:spPr>
        <p:txBody>
          <a:bodyPr wrap="square" lIns="4572" rIns="4572" tIns="4572" bIns="457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E241F"/>
                </a:solidFill>
                <a:latin typeface="Aptos"/>
              </a:rPr>
              <a:t>Relative model cost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0120" y="4526280"/>
            <a:ext cx="2194560" cy="502920"/>
          </a:xfrm>
          <a:prstGeom prst="rect">
            <a:avLst/>
          </a:prstGeom>
          <a:solidFill>
            <a:srgbClr val="FBF7EF"/>
          </a:solidFill>
          <a:ln w="10160">
            <a:solidFill>
              <a:srgbClr val="E7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4128" y="4553712"/>
            <a:ext cx="2066543" cy="448056"/>
          </a:xfrm>
          <a:prstGeom prst="rect">
            <a:avLst/>
          </a:prstGeom>
          <a:noFill/>
        </p:spPr>
        <p:txBody>
          <a:bodyPr wrap="square" lIns="4572" rIns="4572" tIns="4572" bIns="457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E241F"/>
                </a:solidFill>
                <a:latin typeface="Aptos"/>
              </a:rPr>
              <a:t>Hash join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154680" y="4526280"/>
            <a:ext cx="3200400" cy="502920"/>
          </a:xfrm>
          <a:prstGeom prst="rect">
            <a:avLst/>
          </a:prstGeom>
          <a:solidFill>
            <a:srgbClr val="FBF7EF"/>
          </a:solidFill>
          <a:ln w="10160">
            <a:solidFill>
              <a:srgbClr val="E7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218688" y="4553712"/>
            <a:ext cx="3072384" cy="448056"/>
          </a:xfrm>
          <a:prstGeom prst="rect">
            <a:avLst/>
          </a:prstGeom>
          <a:noFill/>
        </p:spPr>
        <p:txBody>
          <a:bodyPr wrap="square" lIns="4572" rIns="4572" tIns="4572" bIns="457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E241F"/>
                </a:solidFill>
                <a:latin typeface="Aptos"/>
              </a:rPr>
              <a:t>Build / probe hash table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55080" y="4526280"/>
            <a:ext cx="3200400" cy="502920"/>
          </a:xfrm>
          <a:prstGeom prst="rect">
            <a:avLst/>
          </a:prstGeom>
          <a:solidFill>
            <a:srgbClr val="FBF7EF"/>
          </a:solidFill>
          <a:ln w="10160">
            <a:solidFill>
              <a:srgbClr val="E7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19088" y="4553712"/>
            <a:ext cx="3072384" cy="448056"/>
          </a:xfrm>
          <a:prstGeom prst="rect">
            <a:avLst/>
          </a:prstGeom>
          <a:noFill/>
        </p:spPr>
        <p:txBody>
          <a:bodyPr wrap="square" lIns="4572" rIns="4572" tIns="4572" bIns="457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E241F"/>
                </a:solidFill>
                <a:latin typeface="Aptos"/>
              </a:rPr>
              <a:t>Equality join alternative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60120" y="5029200"/>
            <a:ext cx="2194560" cy="502920"/>
          </a:xfrm>
          <a:prstGeom prst="rect">
            <a:avLst/>
          </a:prstGeom>
          <a:solidFill>
            <a:srgbClr val="FFFCF7"/>
          </a:solidFill>
          <a:ln w="10160">
            <a:solidFill>
              <a:srgbClr val="E7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24128" y="5056632"/>
            <a:ext cx="2066543" cy="448056"/>
          </a:xfrm>
          <a:prstGeom prst="rect">
            <a:avLst/>
          </a:prstGeom>
          <a:noFill/>
        </p:spPr>
        <p:txBody>
          <a:bodyPr wrap="square" lIns="4572" rIns="4572" tIns="4572" bIns="457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E241F"/>
                </a:solidFill>
                <a:latin typeface="Aptos"/>
              </a:rPr>
              <a:t>Merge join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154680" y="5029200"/>
            <a:ext cx="3200400" cy="502920"/>
          </a:xfrm>
          <a:prstGeom prst="rect">
            <a:avLst/>
          </a:prstGeom>
          <a:solidFill>
            <a:srgbClr val="FFFCF7"/>
          </a:solidFill>
          <a:ln w="10160">
            <a:solidFill>
              <a:srgbClr val="E7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218688" y="5056632"/>
            <a:ext cx="3072384" cy="448056"/>
          </a:xfrm>
          <a:prstGeom prst="rect">
            <a:avLst/>
          </a:prstGeom>
          <a:noFill/>
        </p:spPr>
        <p:txBody>
          <a:bodyPr wrap="square" lIns="4572" rIns="4572" tIns="4572" bIns="457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E241F"/>
                </a:solidFill>
                <a:latin typeface="Aptos"/>
              </a:rPr>
              <a:t>Process sorted inputs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55080" y="5029200"/>
            <a:ext cx="3200400" cy="502920"/>
          </a:xfrm>
          <a:prstGeom prst="rect">
            <a:avLst/>
          </a:prstGeom>
          <a:solidFill>
            <a:srgbClr val="FFFCF7"/>
          </a:solidFill>
          <a:ln w="10160">
            <a:solidFill>
              <a:srgbClr val="E7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19088" y="5056632"/>
            <a:ext cx="3072384" cy="448056"/>
          </a:xfrm>
          <a:prstGeom prst="rect">
            <a:avLst/>
          </a:prstGeom>
          <a:noFill/>
        </p:spPr>
        <p:txBody>
          <a:bodyPr wrap="square" lIns="4572" rIns="4572" tIns="4572" bIns="457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E241F"/>
                </a:solidFill>
                <a:latin typeface="Aptos"/>
              </a:rPr>
              <a:t>Relative model cost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1560" y="5669280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7D6A5F"/>
                </a:solidFill>
                <a:latin typeface="Aptos"/>
              </a:rPr>
              <a:t>Inner-join orders are compared within a small cap; outer/cross-join order is preserved when arbitrary reordering may be unsafe.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0881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45643"/>
                </a:solidFill>
                <a:latin typeface="Aptos"/>
              </a:rPr>
              <a:t>OPTIMIZER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94360"/>
            <a:ext cx="1097280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402219"/>
                </a:solidFill>
                <a:latin typeface="Georgia"/>
              </a:rPr>
              <a:t>Six candidate plans are compared using estimated cost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1124712"/>
            <a:ext cx="594360" cy="50292"/>
          </a:xfrm>
          <a:prstGeom prst="rect">
            <a:avLst/>
          </a:prstGeom>
          <a:solidFill>
            <a:srgbClr val="E0A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53312" y="1042415"/>
            <a:ext cx="10241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7D6A5F"/>
                </a:solidFill>
                <a:latin typeface="Aptos"/>
              </a:rPr>
              <a:t>Numbers below are from the saved end-to-end demo; units are model units, not milliseconds.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8138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7D6A5F"/>
                </a:solidFill>
                <a:latin typeface="Aptos"/>
              </a:rPr>
              <a:t>COSTRA  •  COMPILER DESIGN LABORATORY  •  FINAL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73952"/>
            <a:ext cx="502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>
                <a:solidFill>
                  <a:srgbClr val="7D6A5F"/>
                </a:solidFill>
                <a:latin typeface="Aptos"/>
              </a:rPr>
              <a:t>16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1664208"/>
            <a:ext cx="1828800" cy="438912"/>
          </a:xfrm>
          <a:prstGeom prst="rect">
            <a:avLst/>
          </a:prstGeom>
          <a:solidFill>
            <a:srgbClr val="402219"/>
          </a:solidFill>
          <a:ln w="10160">
            <a:solidFill>
              <a:srgbClr val="E7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07008" y="1691640"/>
            <a:ext cx="1700784" cy="384048"/>
          </a:xfrm>
          <a:prstGeom prst="rect">
            <a:avLst/>
          </a:prstGeom>
          <a:noFill/>
        </p:spPr>
        <p:txBody>
          <a:bodyPr wrap="square" lIns="4572" rIns="4572" tIns="4572" bIns="457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CF7"/>
                </a:solidFill>
                <a:latin typeface="Aptos"/>
              </a:rPr>
              <a:t>Candidate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71800" y="1664208"/>
            <a:ext cx="3108960" cy="438912"/>
          </a:xfrm>
          <a:prstGeom prst="rect">
            <a:avLst/>
          </a:prstGeom>
          <a:solidFill>
            <a:srgbClr val="402219"/>
          </a:solidFill>
          <a:ln w="10160">
            <a:solidFill>
              <a:srgbClr val="E7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35808" y="1691640"/>
            <a:ext cx="2980944" cy="384048"/>
          </a:xfrm>
          <a:prstGeom prst="rect">
            <a:avLst/>
          </a:prstGeom>
          <a:noFill/>
        </p:spPr>
        <p:txBody>
          <a:bodyPr wrap="square" lIns="4572" rIns="4572" tIns="4572" bIns="4572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CF7"/>
                </a:solidFill>
                <a:latin typeface="Aptos"/>
              </a:rPr>
              <a:t>Estimated cost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80760" y="1664208"/>
            <a:ext cx="2788920" cy="438912"/>
          </a:xfrm>
          <a:prstGeom prst="rect">
            <a:avLst/>
          </a:prstGeom>
          <a:solidFill>
            <a:srgbClr val="402219"/>
          </a:solidFill>
          <a:ln w="10160">
            <a:solidFill>
              <a:srgbClr val="E7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44768" y="1691640"/>
            <a:ext cx="2660903" cy="384048"/>
          </a:xfrm>
          <a:prstGeom prst="rect">
            <a:avLst/>
          </a:prstGeom>
          <a:noFill/>
        </p:spPr>
        <p:txBody>
          <a:bodyPr wrap="square" lIns="4572" rIns="4572" tIns="4572" bIns="4572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CF7"/>
                </a:solidFill>
                <a:latin typeface="Aptos"/>
              </a:rPr>
              <a:t>Estimated rows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43000" y="2103120"/>
            <a:ext cx="1828800" cy="438912"/>
          </a:xfrm>
          <a:prstGeom prst="rect">
            <a:avLst/>
          </a:prstGeom>
          <a:solidFill>
            <a:srgbClr val="FFFCF7"/>
          </a:solidFill>
          <a:ln w="10160">
            <a:solidFill>
              <a:srgbClr val="E7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07008" y="2130551"/>
            <a:ext cx="1700784" cy="384048"/>
          </a:xfrm>
          <a:prstGeom prst="rect">
            <a:avLst/>
          </a:prstGeom>
          <a:noFill/>
        </p:spPr>
        <p:txBody>
          <a:bodyPr wrap="square" lIns="4572" rIns="4572" tIns="4572" bIns="457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E241F"/>
                </a:solidFill>
                <a:latin typeface="Aptos"/>
              </a:rPr>
              <a:t>Plan 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71800" y="2103120"/>
            <a:ext cx="3108960" cy="438912"/>
          </a:xfrm>
          <a:prstGeom prst="rect">
            <a:avLst/>
          </a:prstGeom>
          <a:solidFill>
            <a:srgbClr val="FFFCF7"/>
          </a:solidFill>
          <a:ln w="10160">
            <a:solidFill>
              <a:srgbClr val="E7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35808" y="2130551"/>
            <a:ext cx="2980944" cy="384048"/>
          </a:xfrm>
          <a:prstGeom prst="rect">
            <a:avLst/>
          </a:prstGeom>
          <a:noFill/>
        </p:spPr>
        <p:txBody>
          <a:bodyPr wrap="square" lIns="4572" rIns="4572" tIns="4572" bIns="4572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E241F"/>
                </a:solidFill>
                <a:latin typeface="Aptos"/>
              </a:rPr>
              <a:t>115,222.63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80760" y="2103120"/>
            <a:ext cx="2788920" cy="438912"/>
          </a:xfrm>
          <a:prstGeom prst="rect">
            <a:avLst/>
          </a:prstGeom>
          <a:solidFill>
            <a:srgbClr val="FFFCF7"/>
          </a:solidFill>
          <a:ln w="10160">
            <a:solidFill>
              <a:srgbClr val="E7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44768" y="2130551"/>
            <a:ext cx="2660903" cy="384048"/>
          </a:xfrm>
          <a:prstGeom prst="rect">
            <a:avLst/>
          </a:prstGeom>
          <a:noFill/>
        </p:spPr>
        <p:txBody>
          <a:bodyPr wrap="square" lIns="4572" rIns="4572" tIns="4572" bIns="4572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E241F"/>
                </a:solidFill>
                <a:latin typeface="Aptos"/>
              </a:rPr>
              <a:t>2.00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2542032"/>
            <a:ext cx="1828800" cy="438912"/>
          </a:xfrm>
          <a:prstGeom prst="rect">
            <a:avLst/>
          </a:prstGeom>
          <a:solidFill>
            <a:srgbClr val="FBF7EF"/>
          </a:solidFill>
          <a:ln w="10160">
            <a:solidFill>
              <a:srgbClr val="E7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07008" y="2569464"/>
            <a:ext cx="1700784" cy="384048"/>
          </a:xfrm>
          <a:prstGeom prst="rect">
            <a:avLst/>
          </a:prstGeom>
          <a:noFill/>
        </p:spPr>
        <p:txBody>
          <a:bodyPr wrap="square" lIns="4572" rIns="4572" tIns="4572" bIns="457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E241F"/>
                </a:solidFill>
                <a:latin typeface="Aptos"/>
              </a:rPr>
              <a:t>Plan 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971800" y="2542032"/>
            <a:ext cx="3108960" cy="438912"/>
          </a:xfrm>
          <a:prstGeom prst="rect">
            <a:avLst/>
          </a:prstGeom>
          <a:solidFill>
            <a:srgbClr val="FBF7EF"/>
          </a:solidFill>
          <a:ln w="10160">
            <a:solidFill>
              <a:srgbClr val="E7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035808" y="2569464"/>
            <a:ext cx="2980944" cy="384048"/>
          </a:xfrm>
          <a:prstGeom prst="rect">
            <a:avLst/>
          </a:prstGeom>
          <a:noFill/>
        </p:spPr>
        <p:txBody>
          <a:bodyPr wrap="square" lIns="4572" rIns="4572" tIns="4572" bIns="4572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E241F"/>
                </a:solidFill>
                <a:latin typeface="Aptos"/>
              </a:rPr>
              <a:t>115,222.63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80760" y="2542032"/>
            <a:ext cx="2788920" cy="438912"/>
          </a:xfrm>
          <a:prstGeom prst="rect">
            <a:avLst/>
          </a:prstGeom>
          <a:solidFill>
            <a:srgbClr val="FBF7EF"/>
          </a:solidFill>
          <a:ln w="10160">
            <a:solidFill>
              <a:srgbClr val="E7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44768" y="2569464"/>
            <a:ext cx="2660903" cy="384048"/>
          </a:xfrm>
          <a:prstGeom prst="rect">
            <a:avLst/>
          </a:prstGeom>
          <a:noFill/>
        </p:spPr>
        <p:txBody>
          <a:bodyPr wrap="square" lIns="4572" rIns="4572" tIns="4572" bIns="4572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E241F"/>
                </a:solidFill>
                <a:latin typeface="Aptos"/>
              </a:rPr>
              <a:t>2.00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2980944"/>
            <a:ext cx="1828800" cy="438912"/>
          </a:xfrm>
          <a:prstGeom prst="rect">
            <a:avLst/>
          </a:prstGeom>
          <a:solidFill>
            <a:srgbClr val="FFFCF7"/>
          </a:solidFill>
          <a:ln w="10160">
            <a:solidFill>
              <a:srgbClr val="E7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07008" y="3008375"/>
            <a:ext cx="1700784" cy="384048"/>
          </a:xfrm>
          <a:prstGeom prst="rect">
            <a:avLst/>
          </a:prstGeom>
          <a:noFill/>
        </p:spPr>
        <p:txBody>
          <a:bodyPr wrap="square" lIns="4572" rIns="4572" tIns="4572" bIns="457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E241F"/>
                </a:solidFill>
                <a:latin typeface="Aptos"/>
              </a:rPr>
              <a:t>Plan 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971800" y="2980944"/>
            <a:ext cx="3108960" cy="438912"/>
          </a:xfrm>
          <a:prstGeom prst="rect">
            <a:avLst/>
          </a:prstGeom>
          <a:solidFill>
            <a:srgbClr val="FFFCF7"/>
          </a:solidFill>
          <a:ln w="10160">
            <a:solidFill>
              <a:srgbClr val="E7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035808" y="3008375"/>
            <a:ext cx="2980944" cy="384048"/>
          </a:xfrm>
          <a:prstGeom prst="rect">
            <a:avLst/>
          </a:prstGeom>
          <a:noFill/>
        </p:spPr>
        <p:txBody>
          <a:bodyPr wrap="square" lIns="4572" rIns="4572" tIns="4572" bIns="4572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E241F"/>
                </a:solidFill>
                <a:latin typeface="Aptos"/>
              </a:rPr>
              <a:t>121,702.63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80760" y="2980944"/>
            <a:ext cx="2788920" cy="438912"/>
          </a:xfrm>
          <a:prstGeom prst="rect">
            <a:avLst/>
          </a:prstGeom>
          <a:solidFill>
            <a:srgbClr val="FFFCF7"/>
          </a:solidFill>
          <a:ln w="10160">
            <a:solidFill>
              <a:srgbClr val="E7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44768" y="3008375"/>
            <a:ext cx="2660903" cy="384048"/>
          </a:xfrm>
          <a:prstGeom prst="rect">
            <a:avLst/>
          </a:prstGeom>
          <a:noFill/>
        </p:spPr>
        <p:txBody>
          <a:bodyPr wrap="square" lIns="4572" rIns="4572" tIns="4572" bIns="4572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E241F"/>
                </a:solidFill>
                <a:latin typeface="Aptos"/>
              </a:rPr>
              <a:t>2.00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43000" y="3419856"/>
            <a:ext cx="1828800" cy="438912"/>
          </a:xfrm>
          <a:prstGeom prst="rect">
            <a:avLst/>
          </a:prstGeom>
          <a:solidFill>
            <a:srgbClr val="FBF7EF"/>
          </a:solidFill>
          <a:ln w="10160">
            <a:solidFill>
              <a:srgbClr val="E7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07008" y="3447288"/>
            <a:ext cx="1700784" cy="384048"/>
          </a:xfrm>
          <a:prstGeom prst="rect">
            <a:avLst/>
          </a:prstGeom>
          <a:noFill/>
        </p:spPr>
        <p:txBody>
          <a:bodyPr wrap="square" lIns="4572" rIns="4572" tIns="4572" bIns="457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E241F"/>
                </a:solidFill>
                <a:latin typeface="Aptos"/>
              </a:rPr>
              <a:t>Plan 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971800" y="3419856"/>
            <a:ext cx="3108960" cy="438912"/>
          </a:xfrm>
          <a:prstGeom prst="rect">
            <a:avLst/>
          </a:prstGeom>
          <a:solidFill>
            <a:srgbClr val="FBF7EF"/>
          </a:solidFill>
          <a:ln w="10160">
            <a:solidFill>
              <a:srgbClr val="E7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035808" y="3447288"/>
            <a:ext cx="2980944" cy="384048"/>
          </a:xfrm>
          <a:prstGeom prst="rect">
            <a:avLst/>
          </a:prstGeom>
          <a:noFill/>
        </p:spPr>
        <p:txBody>
          <a:bodyPr wrap="square" lIns="4572" rIns="4572" tIns="4572" bIns="4572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E241F"/>
                </a:solidFill>
                <a:latin typeface="Aptos"/>
              </a:rPr>
              <a:t>121,702.63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80760" y="3419856"/>
            <a:ext cx="2788920" cy="438912"/>
          </a:xfrm>
          <a:prstGeom prst="rect">
            <a:avLst/>
          </a:prstGeom>
          <a:solidFill>
            <a:srgbClr val="FBF7EF"/>
          </a:solidFill>
          <a:ln w="10160">
            <a:solidFill>
              <a:srgbClr val="E7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44768" y="3447288"/>
            <a:ext cx="2660903" cy="384048"/>
          </a:xfrm>
          <a:prstGeom prst="rect">
            <a:avLst/>
          </a:prstGeom>
          <a:noFill/>
        </p:spPr>
        <p:txBody>
          <a:bodyPr wrap="square" lIns="4572" rIns="4572" tIns="4572" bIns="4572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E241F"/>
                </a:solidFill>
                <a:latin typeface="Aptos"/>
              </a:rPr>
              <a:t>2.00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143000" y="3858768"/>
            <a:ext cx="1828800" cy="438912"/>
          </a:xfrm>
          <a:prstGeom prst="rect">
            <a:avLst/>
          </a:prstGeom>
          <a:solidFill>
            <a:srgbClr val="FFFCF7"/>
          </a:solidFill>
          <a:ln w="10160">
            <a:solidFill>
              <a:srgbClr val="E7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07008" y="3886200"/>
            <a:ext cx="1700784" cy="384048"/>
          </a:xfrm>
          <a:prstGeom prst="rect">
            <a:avLst/>
          </a:prstGeom>
          <a:noFill/>
        </p:spPr>
        <p:txBody>
          <a:bodyPr wrap="square" lIns="4572" rIns="4572" tIns="4572" bIns="457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E241F"/>
                </a:solidFill>
                <a:latin typeface="Aptos"/>
              </a:rPr>
              <a:t>Plan 5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971800" y="3858768"/>
            <a:ext cx="3108960" cy="438912"/>
          </a:xfrm>
          <a:prstGeom prst="rect">
            <a:avLst/>
          </a:prstGeom>
          <a:solidFill>
            <a:srgbClr val="FFFCF7"/>
          </a:solidFill>
          <a:ln w="10160">
            <a:solidFill>
              <a:srgbClr val="E7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035808" y="3886200"/>
            <a:ext cx="2980944" cy="384048"/>
          </a:xfrm>
          <a:prstGeom prst="rect">
            <a:avLst/>
          </a:prstGeom>
          <a:noFill/>
        </p:spPr>
        <p:txBody>
          <a:bodyPr wrap="square" lIns="4572" rIns="4572" tIns="4572" bIns="4572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E241F"/>
                </a:solidFill>
                <a:latin typeface="Aptos"/>
              </a:rPr>
              <a:t>123,862.63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080760" y="3858768"/>
            <a:ext cx="2788920" cy="438912"/>
          </a:xfrm>
          <a:prstGeom prst="rect">
            <a:avLst/>
          </a:prstGeom>
          <a:solidFill>
            <a:srgbClr val="FFFCF7"/>
          </a:solidFill>
          <a:ln w="10160">
            <a:solidFill>
              <a:srgbClr val="E7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44768" y="3886200"/>
            <a:ext cx="2660903" cy="384048"/>
          </a:xfrm>
          <a:prstGeom prst="rect">
            <a:avLst/>
          </a:prstGeom>
          <a:noFill/>
        </p:spPr>
        <p:txBody>
          <a:bodyPr wrap="square" lIns="4572" rIns="4572" tIns="4572" bIns="4572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E241F"/>
                </a:solidFill>
                <a:latin typeface="Aptos"/>
              </a:rPr>
              <a:t>2.00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143000" y="4297680"/>
            <a:ext cx="1828800" cy="438912"/>
          </a:xfrm>
          <a:prstGeom prst="rect">
            <a:avLst/>
          </a:prstGeom>
          <a:solidFill>
            <a:srgbClr val="FBF7EF"/>
          </a:solidFill>
          <a:ln w="10160">
            <a:solidFill>
              <a:srgbClr val="E7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207008" y="4325112"/>
            <a:ext cx="1700784" cy="384048"/>
          </a:xfrm>
          <a:prstGeom prst="rect">
            <a:avLst/>
          </a:prstGeom>
          <a:noFill/>
        </p:spPr>
        <p:txBody>
          <a:bodyPr wrap="square" lIns="4572" rIns="4572" tIns="4572" bIns="457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E241F"/>
                </a:solidFill>
                <a:latin typeface="Aptos"/>
              </a:rPr>
              <a:t>Plan 6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971800" y="4297680"/>
            <a:ext cx="3108960" cy="438912"/>
          </a:xfrm>
          <a:prstGeom prst="rect">
            <a:avLst/>
          </a:prstGeom>
          <a:solidFill>
            <a:srgbClr val="FBF7EF"/>
          </a:solidFill>
          <a:ln w="10160">
            <a:solidFill>
              <a:srgbClr val="E7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035808" y="4325112"/>
            <a:ext cx="2980944" cy="384048"/>
          </a:xfrm>
          <a:prstGeom prst="rect">
            <a:avLst/>
          </a:prstGeom>
          <a:noFill/>
        </p:spPr>
        <p:txBody>
          <a:bodyPr wrap="square" lIns="4572" rIns="4572" tIns="4572" bIns="4572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E241F"/>
                </a:solidFill>
                <a:latin typeface="Aptos"/>
              </a:rPr>
              <a:t>123,862.63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080760" y="4297680"/>
            <a:ext cx="2788920" cy="438912"/>
          </a:xfrm>
          <a:prstGeom prst="rect">
            <a:avLst/>
          </a:prstGeom>
          <a:solidFill>
            <a:srgbClr val="FBF7EF"/>
          </a:solidFill>
          <a:ln w="10160">
            <a:solidFill>
              <a:srgbClr val="E7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44768" y="4325112"/>
            <a:ext cx="2660903" cy="384048"/>
          </a:xfrm>
          <a:prstGeom prst="rect">
            <a:avLst/>
          </a:prstGeom>
          <a:noFill/>
        </p:spPr>
        <p:txBody>
          <a:bodyPr wrap="square" lIns="4572" rIns="4572" tIns="4572" bIns="4572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E241F"/>
                </a:solidFill>
                <a:latin typeface="Aptos"/>
              </a:rPr>
              <a:t>2.00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143000" y="5074920"/>
            <a:ext cx="7726679" cy="713232"/>
          </a:xfrm>
          <a:prstGeom prst="roundRect">
            <a:avLst>
              <a:gd name="adj" fmla="val 10000"/>
            </a:avLst>
          </a:prstGeom>
          <a:solidFill>
            <a:srgbClr val="F0E5D5"/>
          </a:solidFill>
          <a:ln w="10160">
            <a:solidFill>
              <a:srgbClr val="E7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353312" y="5239512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402219"/>
                </a:solidFill>
                <a:latin typeface="Georgia"/>
              </a:rPr>
              <a:t>Selected minimum: 115,222.63 model units (Plan 1; Plan 2 ties at the same estimate).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89720" y="2011680"/>
            <a:ext cx="1965960" cy="2560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2E241F"/>
                </a:solidFill>
                <a:latin typeface="Aptos"/>
              </a:rPr>
              <a:t>What it means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2E241F"/>
                </a:solidFill>
                <a:latin typeface="Aptos"/>
              </a:rPr>
              <a:t>• Compare alternatives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2E241F"/>
                </a:solidFill>
                <a:latin typeface="Aptos"/>
              </a:rPr>
              <a:t>• Keep the lowest estimate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2E241F"/>
                </a:solidFill>
                <a:latin typeface="Aptos"/>
              </a:rPr>
              <a:t>• Do not claim measured runtime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46888"/>
            <a:ext cx="10927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C45643"/>
                </a:solidFill>
                <a:latin typeface="Aptos"/>
              </a:rPr>
              <a:t>COST CALCULATION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12064"/>
            <a:ext cx="1101852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402219"/>
                </a:solidFill>
                <a:latin typeface="Georgia"/>
              </a:rPr>
              <a:t>How COSTRA calculates estimated cost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1097280"/>
            <a:ext cx="594360" cy="54864"/>
          </a:xfrm>
          <a:prstGeom prst="rect">
            <a:avLst/>
          </a:prstGeom>
          <a:solidFill>
            <a:srgbClr val="E0A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53312" y="1024128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20" b="0" i="0">
                <a:solidFill>
                  <a:srgbClr val="7D6A5F"/>
                </a:solidFill>
                <a:latin typeface="Aptos"/>
              </a:rPr>
              <a:t>N = input rows; L/R = left/right join rows; output rows are estimated, not measured.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7D6A5F"/>
                </a:solidFill>
                <a:latin typeface="Aptos"/>
              </a:rPr>
              <a:t>COSTRA  •  COMPILER DESIGN LABORATORY  •  FINAL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73952"/>
            <a:ext cx="502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>
                <a:solidFill>
                  <a:srgbClr val="7D6A5F"/>
                </a:solidFill>
                <a:latin typeface="Aptos"/>
              </a:rPr>
              <a:t>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" y="1591056"/>
            <a:ext cx="3493008" cy="4434840"/>
          </a:xfrm>
          <a:prstGeom prst="roundRect">
            <a:avLst/>
          </a:prstGeom>
          <a:solidFill>
            <a:srgbClr val="FFFCF7"/>
          </a:solidFill>
          <a:ln w="10160">
            <a:solidFill>
              <a:srgbClr val="E7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3504" y="1591056"/>
            <a:ext cx="64008" cy="4434840"/>
          </a:xfrm>
          <a:prstGeom prst="rect">
            <a:avLst/>
          </a:prstGeom>
          <a:solidFill>
            <a:srgbClr val="C45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801368"/>
            <a:ext cx="3063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30" b="1" i="0">
                <a:solidFill>
                  <a:srgbClr val="402219"/>
                </a:solidFill>
                <a:latin typeface="Georgia"/>
              </a:rPr>
              <a:t>ACCESS PATHS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221992"/>
            <a:ext cx="3072384" cy="354787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15" b="0" i="0">
                <a:solidFill>
                  <a:srgbClr val="2E241F"/>
                </a:solidFill>
                <a:latin typeface="Aptos"/>
              </a:rPr>
              <a:t>FULL TABLE SCAN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15" b="0" i="0">
                <a:solidFill>
                  <a:srgbClr val="2E241F"/>
                </a:solidFill>
                <a:latin typeface="Aptos"/>
              </a:rPr>
              <a:t>Cost = N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15" b="0" i="0">
                <a:solidFill>
                  <a:srgbClr val="2E241F"/>
                </a:solidFill>
                <a:latin typeface="Aptos"/>
              </a:rPr>
              <a:t>INDEX SCAN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15" b="0" i="0">
                <a:solidFill>
                  <a:srgbClr val="2E241F"/>
                </a:solidFill>
                <a:latin typeface="Aptos"/>
              </a:rPr>
              <a:t>Cost = 2 × log2(max(2, N))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15" b="0" i="0">
                <a:solidFill>
                  <a:srgbClr val="2E241F"/>
                </a:solidFill>
                <a:latin typeface="Aptos"/>
              </a:rPr>
              <a:t>       + 0.60 × output_rows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15" b="0" i="0">
                <a:solidFill>
                  <a:srgbClr val="2E241F"/>
                </a:solidFill>
                <a:latin typeface="Aptos"/>
              </a:rPr>
              <a:t>PREDICATE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15" b="0" i="0">
                <a:solidFill>
                  <a:srgbClr val="2E241F"/>
                </a:solidFill>
                <a:latin typeface="Aptos"/>
              </a:rPr>
              <a:t>Cost = 0.20 × input_rows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15" b="0" i="0">
                <a:solidFill>
                  <a:srgbClr val="2E241F"/>
                </a:solidFill>
                <a:latin typeface="Aptos"/>
              </a:rPr>
              <a:t>Scan choice: compare full-scan + filter work against the index estimate; keep the lower estimate.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52544" y="1591056"/>
            <a:ext cx="3493008" cy="4434840"/>
          </a:xfrm>
          <a:prstGeom prst="roundRect">
            <a:avLst/>
          </a:prstGeom>
          <a:solidFill>
            <a:srgbClr val="FFFCF7"/>
          </a:solidFill>
          <a:ln w="10160">
            <a:solidFill>
              <a:srgbClr val="E7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2544" y="1591056"/>
            <a:ext cx="64008" cy="4434840"/>
          </a:xfrm>
          <a:prstGeom prst="rect">
            <a:avLst/>
          </a:prstGeom>
          <a:solidFill>
            <a:srgbClr val="667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53712" y="1801368"/>
            <a:ext cx="3063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30" b="1" i="0">
                <a:solidFill>
                  <a:srgbClr val="402219"/>
                </a:solidFill>
                <a:latin typeface="Georgia"/>
              </a:rPr>
              <a:t>JOIN ALGORITHMS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3712" y="2221992"/>
            <a:ext cx="3072384" cy="354787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15" b="0" i="0">
                <a:solidFill>
                  <a:srgbClr val="2E241F"/>
                </a:solidFill>
                <a:latin typeface="Aptos"/>
              </a:rPr>
              <a:t>NESTED-LOOP JOIN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15" b="0" i="0">
                <a:solidFill>
                  <a:srgbClr val="2E241F"/>
                </a:solidFill>
                <a:latin typeface="Aptos"/>
              </a:rPr>
              <a:t>Cost = 0.15 × L × max(1, R)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15" b="0" i="0">
                <a:solidFill>
                  <a:srgbClr val="2E241F"/>
                </a:solidFill>
                <a:latin typeface="Aptos"/>
              </a:rPr>
              <a:t>HASH JOIN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15" b="0" i="0">
                <a:solidFill>
                  <a:srgbClr val="2E241F"/>
                </a:solidFill>
                <a:latin typeface="Aptos"/>
              </a:rPr>
              <a:t>Cost = 1.10 × (L + R)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15" b="0" i="0">
                <a:solidFill>
                  <a:srgbClr val="2E241F"/>
                </a:solidFill>
                <a:latin typeface="Aptos"/>
              </a:rPr>
              <a:t>       + 0.25 × min(L, R)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15" b="0" i="0">
                <a:solidFill>
                  <a:srgbClr val="2E241F"/>
                </a:solidFill>
                <a:latin typeface="Aptos"/>
              </a:rPr>
              <a:t>MERGE JOIN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15" b="0" i="0">
                <a:solidFill>
                  <a:srgbClr val="2E241F"/>
                </a:solidFill>
                <a:latin typeface="Aptos"/>
              </a:rPr>
              <a:t>Cost = 0.80 × (L + R)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15" b="0" i="0">
                <a:solidFill>
                  <a:srgbClr val="2E241F"/>
                </a:solidFill>
                <a:latin typeface="Aptos"/>
              </a:rPr>
              <a:t>       + 0.45 × L × log2(max(2, L))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15" b="0" i="0">
                <a:solidFill>
                  <a:srgbClr val="2E241F"/>
                </a:solidFill>
                <a:latin typeface="Aptos"/>
              </a:rPr>
              <a:t>       + 0.45 × R × log2(max(2, R))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01583" y="1591056"/>
            <a:ext cx="3493008" cy="4434840"/>
          </a:xfrm>
          <a:prstGeom prst="roundRect">
            <a:avLst/>
          </a:prstGeom>
          <a:solidFill>
            <a:srgbClr val="FFFCF7"/>
          </a:solidFill>
          <a:ln w="10160">
            <a:solidFill>
              <a:srgbClr val="E7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01583" y="1591056"/>
            <a:ext cx="64008" cy="4434840"/>
          </a:xfrm>
          <a:prstGeom prst="rect">
            <a:avLst/>
          </a:prstGeom>
          <a:solidFill>
            <a:srgbClr val="E0A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2752" y="1801368"/>
            <a:ext cx="3063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30" b="1" i="0">
                <a:solidFill>
                  <a:srgbClr val="402219"/>
                </a:solidFill>
                <a:latin typeface="Georgia"/>
              </a:rPr>
              <a:t>OTHER OPERATORS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2752" y="2221992"/>
            <a:ext cx="3072384" cy="354787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15" b="0" i="0">
                <a:solidFill>
                  <a:srgbClr val="2E241F"/>
                </a:solidFill>
                <a:latin typeface="Aptos"/>
              </a:rPr>
              <a:t>AGGREGATE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15" b="0" i="0">
                <a:solidFill>
                  <a:srgbClr val="2E241F"/>
                </a:solidFill>
                <a:latin typeface="Aptos"/>
              </a:rPr>
              <a:t>Cost = 0.45 × input_rows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15" b="0" i="0">
                <a:solidFill>
                  <a:srgbClr val="2E241F"/>
                </a:solidFill>
                <a:latin typeface="Aptos"/>
              </a:rPr>
              <a:t>DISTINCT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15" b="0" i="0">
                <a:solidFill>
                  <a:srgbClr val="2E241F"/>
                </a:solidFill>
                <a:latin typeface="Aptos"/>
              </a:rPr>
              <a:t>Cost = 0.30 × input_rows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15" b="0" i="0">
                <a:solidFill>
                  <a:srgbClr val="2E241F"/>
                </a:solidFill>
                <a:latin typeface="Aptos"/>
              </a:rPr>
              <a:t>SORT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15" b="0" i="0">
                <a:solidFill>
                  <a:srgbClr val="2E241F"/>
                </a:solidFill>
                <a:latin typeface="Aptos"/>
              </a:rPr>
              <a:t>Cost = 0.35 × N × log2(max(2, N))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15" b="0" i="0">
                <a:solidFill>
                  <a:srgbClr val="2E241F"/>
                </a:solidFill>
                <a:latin typeface="Aptos"/>
              </a:rPr>
              <a:t>PROJECTION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15" b="0" i="0">
                <a:solidFill>
                  <a:srgbClr val="2E241F"/>
                </a:solidFill>
                <a:latin typeface="Aptos"/>
              </a:rPr>
              <a:t>Cost = 0.05 × output_rows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15" b="0" i="0">
                <a:solidFill>
                  <a:srgbClr val="2E241F"/>
                </a:solidFill>
                <a:latin typeface="Aptos"/>
              </a:rPr>
              <a:t>Operator costs accumulate up the plan tree. LIMIT reduces estimated output rows but adds no separate cost in this version.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46888"/>
            <a:ext cx="10927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C45643"/>
                </a:solidFill>
                <a:latin typeface="Aptos"/>
              </a:rPr>
              <a:t>WORKED COST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12064"/>
            <a:ext cx="1101852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402219"/>
                </a:solidFill>
                <a:latin typeface="Georgia"/>
              </a:rPr>
              <a:t>Cost calculation from the current demo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1097280"/>
            <a:ext cx="594360" cy="54864"/>
          </a:xfrm>
          <a:prstGeom prst="rect">
            <a:avLst/>
          </a:prstGeom>
          <a:solidFill>
            <a:srgbClr val="E0A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53312" y="1024128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20" b="0" i="0">
                <a:solidFill>
                  <a:srgbClr val="7D6A5F"/>
                </a:solidFill>
                <a:latin typeface="Aptos"/>
              </a:rPr>
              <a:t>These are the same synthetic row estimates shown in the terminal output.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7D6A5F"/>
                </a:solidFill>
                <a:latin typeface="Aptos"/>
              </a:rPr>
              <a:t>COSTRA  •  COMPILER DESIGN LABORATORY  •  FINAL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73952"/>
            <a:ext cx="502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>
                <a:solidFill>
                  <a:srgbClr val="7D6A5F"/>
                </a:solidFill>
                <a:latin typeface="Aptos"/>
              </a:rPr>
              <a:t>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" y="1572768"/>
            <a:ext cx="3493008" cy="4050791"/>
          </a:xfrm>
          <a:prstGeom prst="roundRect">
            <a:avLst/>
          </a:prstGeom>
          <a:solidFill>
            <a:srgbClr val="FFFCF7"/>
          </a:solidFill>
          <a:ln w="10160">
            <a:solidFill>
              <a:srgbClr val="E7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3504" y="1572768"/>
            <a:ext cx="64008" cy="4050791"/>
          </a:xfrm>
          <a:prstGeom prst="rect">
            <a:avLst/>
          </a:prstGeom>
          <a:solidFill>
            <a:srgbClr val="C45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1792224"/>
            <a:ext cx="305409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40" b="1" i="0">
                <a:solidFill>
                  <a:srgbClr val="402219"/>
                </a:solidFill>
                <a:latin typeface="Georgia"/>
              </a:rPr>
              <a:t>1 / EMPLOYEE INDEX SCAN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2221992"/>
            <a:ext cx="3090672" cy="314553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2E241F"/>
                </a:solidFill>
                <a:latin typeface="Aptos"/>
              </a:rPr>
              <a:t>Table rows N = 10,000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2E241F"/>
                </a:solidFill>
                <a:latin typeface="Aptos"/>
              </a:rPr>
              <a:t>Estimated output = 7,200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2E241F"/>
                </a:solidFill>
                <a:latin typeface="Aptos"/>
              </a:rPr>
              <a:t>Index cost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2E241F"/>
                </a:solidFill>
                <a:latin typeface="Aptos"/>
              </a:rPr>
              <a:t>= 2 log2(10,000) + 0.60(7,200)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2E241F"/>
                </a:solidFill>
                <a:latin typeface="Aptos"/>
              </a:rPr>
              <a:t>= 26.58 + 4,320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2E241F"/>
                </a:solidFill>
                <a:latin typeface="Aptos"/>
              </a:rPr>
              <a:t>= 4,346.58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2E241F"/>
                </a:solidFill>
                <a:latin typeface="Aptos"/>
              </a:rPr>
              <a:t>Full scan + predicate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2E241F"/>
                </a:solidFill>
                <a:latin typeface="Aptos"/>
              </a:rPr>
              <a:t>= 10,000 + 0.20(10,000)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2E241F"/>
                </a:solidFill>
                <a:latin typeface="Aptos"/>
              </a:rPr>
              <a:t>= 12,000.00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2E241F"/>
                </a:solidFill>
                <a:latin typeface="Aptos"/>
              </a:rPr>
              <a:t>Decision: index path has the lower estimate.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52544" y="1572768"/>
            <a:ext cx="3493008" cy="4050791"/>
          </a:xfrm>
          <a:prstGeom prst="roundRect">
            <a:avLst/>
          </a:prstGeom>
          <a:solidFill>
            <a:srgbClr val="FFFCF7"/>
          </a:solidFill>
          <a:ln w="10160">
            <a:solidFill>
              <a:srgbClr val="E7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2544" y="1572768"/>
            <a:ext cx="64008" cy="4050791"/>
          </a:xfrm>
          <a:prstGeom prst="rect">
            <a:avLst/>
          </a:prstGeom>
          <a:solidFill>
            <a:srgbClr val="667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4568" y="1792224"/>
            <a:ext cx="305409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40" b="1" i="0">
                <a:solidFill>
                  <a:srgbClr val="402219"/>
                </a:solidFill>
                <a:latin typeface="Georgia"/>
              </a:rPr>
              <a:t>2 / PROJECT INDEX SCAN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4568" y="2221992"/>
            <a:ext cx="3090672" cy="314553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2E241F"/>
                </a:solidFill>
                <a:latin typeface="Aptos"/>
              </a:rPr>
              <a:t>Table rows N = 1,200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2E241F"/>
                </a:solidFill>
                <a:latin typeface="Aptos"/>
              </a:rPr>
              <a:t>Estimated output = 1,000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2E241F"/>
                </a:solidFill>
                <a:latin typeface="Aptos"/>
              </a:rPr>
              <a:t>Index cost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2E241F"/>
                </a:solidFill>
                <a:latin typeface="Aptos"/>
              </a:rPr>
              <a:t>= 2 log2(1,200) + 0.60(1,000)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2E241F"/>
                </a:solidFill>
                <a:latin typeface="Aptos"/>
              </a:rPr>
              <a:t>= 20.46 + 600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2E241F"/>
                </a:solidFill>
                <a:latin typeface="Aptos"/>
              </a:rPr>
              <a:t>= 620.46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2E241F"/>
                </a:solidFill>
                <a:latin typeface="Aptos"/>
              </a:rPr>
              <a:t>Full scan + predicate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2E241F"/>
                </a:solidFill>
                <a:latin typeface="Aptos"/>
              </a:rPr>
              <a:t>= 1,200 + 0.20(1,200)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2E241F"/>
                </a:solidFill>
                <a:latin typeface="Aptos"/>
              </a:rPr>
              <a:t>= 1,440.00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2E241F"/>
                </a:solidFill>
                <a:latin typeface="Aptos"/>
              </a:rPr>
              <a:t>Decision: index path has the lower estimate.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01583" y="1572768"/>
            <a:ext cx="3493008" cy="4050791"/>
          </a:xfrm>
          <a:prstGeom prst="roundRect">
            <a:avLst/>
          </a:prstGeom>
          <a:solidFill>
            <a:srgbClr val="FFFCF7"/>
          </a:solidFill>
          <a:ln w="10160">
            <a:solidFill>
              <a:srgbClr val="E7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01583" y="1572768"/>
            <a:ext cx="64008" cy="4050791"/>
          </a:xfrm>
          <a:prstGeom prst="rect">
            <a:avLst/>
          </a:prstGeom>
          <a:solidFill>
            <a:srgbClr val="E0A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93608" y="1792224"/>
            <a:ext cx="305409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40" b="1" i="0">
                <a:solidFill>
                  <a:srgbClr val="402219"/>
                </a:solidFill>
                <a:latin typeface="Georgia"/>
              </a:rPr>
              <a:t>3 / HASH JOIN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3608" y="2221992"/>
            <a:ext cx="3090672" cy="314553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2E241F"/>
                </a:solidFill>
                <a:latin typeface="Aptos"/>
              </a:rPr>
              <a:t>Left rows L = 7,200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2E241F"/>
                </a:solidFill>
                <a:latin typeface="Aptos"/>
              </a:rPr>
              <a:t>Right rows R = 30,000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2E241F"/>
                </a:solidFill>
                <a:latin typeface="Aptos"/>
              </a:rPr>
              <a:t>Hash join cost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2E241F"/>
                </a:solidFill>
                <a:latin typeface="Aptos"/>
              </a:rPr>
              <a:t>= 1.10(L + R) + 0.25 min(L, R)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2E241F"/>
                </a:solidFill>
                <a:latin typeface="Aptos"/>
              </a:rPr>
              <a:t>= 1.10(37,200) + 0.25(7,200)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2E241F"/>
                </a:solidFill>
                <a:latin typeface="Aptos"/>
              </a:rPr>
              <a:t>= 40,920 + 1,800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2E241F"/>
                </a:solidFill>
                <a:latin typeface="Aptos"/>
              </a:rPr>
              <a:t>= 42,720.00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2E241F"/>
                </a:solidFill>
                <a:latin typeface="Aptos"/>
              </a:rPr>
              <a:t>This is the join cost added at that step in the selected plan.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3504" y="5733288"/>
            <a:ext cx="10991088" cy="475488"/>
          </a:xfrm>
          <a:prstGeom prst="roundRect">
            <a:avLst/>
          </a:prstGeom>
          <a:solidFill>
            <a:srgbClr val="211A17"/>
          </a:solidFill>
          <a:ln w="10160">
            <a:solidFill>
              <a:srgbClr val="211A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384" y="5815584"/>
            <a:ext cx="10652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80" b="1" i="0">
                <a:solidFill>
                  <a:srgbClr val="FFFCF7"/>
                </a:solidFill>
                <a:latin typeface="Aptos"/>
              </a:rPr>
              <a:t>SELECTED PLAN TOTAL = 115,222.63 MODEL UNITS  •  Sum of the chosen operator/scan/join costs; the software keeps precision internally and displays rounded values.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0881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45643"/>
                </a:solidFill>
                <a:latin typeface="Aptos"/>
              </a:rPr>
              <a:t>OPTIMIZER OUTPUT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94360"/>
            <a:ext cx="1097280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402219"/>
                </a:solidFill>
                <a:latin typeface="Georgia"/>
              </a:rPr>
              <a:t>The selected estimated plan applies selective paths early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1124712"/>
            <a:ext cx="594360" cy="50292"/>
          </a:xfrm>
          <a:prstGeom prst="rect">
            <a:avLst/>
          </a:prstGeom>
          <a:solidFill>
            <a:srgbClr val="E0A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8138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7D6A5F"/>
                </a:solidFill>
                <a:latin typeface="Aptos"/>
              </a:rPr>
              <a:t>COSTRA  •  COMPILER DESIGN LABORATORY  •  FINAL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02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>
                <a:solidFill>
                  <a:srgbClr val="7D6A5F"/>
                </a:solidFill>
                <a:latin typeface="Aptos"/>
              </a:rPr>
              <a:t>19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508760"/>
            <a:ext cx="7452360" cy="4526280"/>
          </a:xfrm>
          <a:prstGeom prst="roundRect">
            <a:avLst>
              <a:gd name="adj" fmla="val 10000"/>
            </a:avLst>
          </a:prstGeom>
          <a:solidFill>
            <a:srgbClr val="211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" y="1600200"/>
            <a:ext cx="714146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E0AA3A"/>
                </a:solidFill>
                <a:latin typeface="Aptos"/>
              </a:rPr>
              <a:t>SELECTED PLAN EXCERPT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1828800"/>
            <a:ext cx="7123176" cy="413308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60" b="0" i="0">
                <a:solidFill>
                  <a:srgbClr val="F9F0E4"/>
                </a:solidFill>
                <a:latin typeface="Aptos Mono"/>
              </a:rPr>
              <a:t>PROJECT [d.name, COUNT(e.id), AVG(e.salary)]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60" b="0" i="0">
                <a:solidFill>
                  <a:srgbClr val="F9F0E4"/>
                </a:solidFill>
                <a:latin typeface="Aptos Mono"/>
              </a:rPr>
              <a:t>  LIMIT [5]  {rows≈2, cost≈115222.53}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60" b="0" i="0">
                <a:solidFill>
                  <a:srgbClr val="F9F0E4"/>
                </a:solidFill>
                <a:latin typeface="Aptos Mono"/>
              </a:rPr>
              <a:t>    SORT [AVG(e.salary) DESC]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60" b="0" i="0">
                <a:solidFill>
                  <a:srgbClr val="F9F0E4"/>
                </a:solidFill>
                <a:latin typeface="Aptos Mono"/>
              </a:rPr>
              <a:t>      HAVING_FILTER [AVG(e.salary) &gt; 65000]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60" b="0" i="0">
                <a:solidFill>
                  <a:srgbClr val="F9F0E4"/>
                </a:solidFill>
                <a:latin typeface="Aptos Mono"/>
              </a:rPr>
              <a:t>        HASH_AGGREGATE [d.name]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60" b="0" i="0">
                <a:solidFill>
                  <a:srgbClr val="F9F0E4"/>
                </a:solidFill>
                <a:latin typeface="Aptos Mono"/>
              </a:rPr>
              <a:t>          HASH_JOIN [Assignment ↔ Project]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60" b="0" i="0">
                <a:solidFill>
                  <a:srgbClr val="F9F0E4"/>
                </a:solidFill>
                <a:latin typeface="Aptos Mono"/>
              </a:rPr>
              <a:t>            HASH_JOIN [Employee/Department ↔ Assignment]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60" b="0" i="0">
                <a:solidFill>
                  <a:srgbClr val="F9F0E4"/>
                </a:solidFill>
                <a:latin typeface="Aptos Mono"/>
              </a:rPr>
              <a:t>              INDEX_SCAN Employee [salary &gt; 60000]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60" b="0" i="0">
                <a:solidFill>
                  <a:srgbClr val="F9F0E4"/>
                </a:solidFill>
                <a:latin typeface="Aptos Mono"/>
              </a:rPr>
              <a:t>              TABLE_SCAN Department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60" b="0" i="0">
                <a:solidFill>
                  <a:srgbClr val="F9F0E4"/>
                </a:solidFill>
                <a:latin typeface="Aptos Mono"/>
              </a:rPr>
              <a:t>            INDEX_SCAN Project [budget &gt; 100000]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94192" y="1691640"/>
            <a:ext cx="3017520" cy="1234440"/>
          </a:xfrm>
          <a:prstGeom prst="roundRect">
            <a:avLst>
              <a:gd name="adj" fmla="val 10000"/>
            </a:avLst>
          </a:prstGeom>
          <a:solidFill>
            <a:srgbClr val="FFFCF7"/>
          </a:solidFill>
          <a:ln w="10160">
            <a:solidFill>
              <a:srgbClr val="E7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394192" y="1691640"/>
            <a:ext cx="68580" cy="1234440"/>
          </a:xfrm>
          <a:prstGeom prst="rect">
            <a:avLst/>
          </a:prstGeom>
          <a:solidFill>
            <a:srgbClr val="667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77072" y="1828800"/>
            <a:ext cx="2697479" cy="32004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402219"/>
                </a:solidFill>
                <a:latin typeface="Georgia"/>
              </a:rPr>
              <a:t>Early filtering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77072" y="2212848"/>
            <a:ext cx="2697479" cy="63093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E241F"/>
                </a:solidFill>
                <a:latin typeface="Aptos"/>
              </a:rPr>
              <a:t>Salary and budget predicates reduce rows before later operations.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94192" y="3182112"/>
            <a:ext cx="3017520" cy="1234440"/>
          </a:xfrm>
          <a:prstGeom prst="roundRect">
            <a:avLst>
              <a:gd name="adj" fmla="val 10000"/>
            </a:avLst>
          </a:prstGeom>
          <a:solidFill>
            <a:srgbClr val="FFFCF7"/>
          </a:solidFill>
          <a:ln w="10160">
            <a:solidFill>
              <a:srgbClr val="E7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394192" y="3182112"/>
            <a:ext cx="68580" cy="1234440"/>
          </a:xfrm>
          <a:prstGeom prst="rect">
            <a:avLst/>
          </a:prstGeom>
          <a:solidFill>
            <a:srgbClr val="C45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77072" y="3319272"/>
            <a:ext cx="2697479" cy="32004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402219"/>
                </a:solidFill>
                <a:latin typeface="Georgia"/>
              </a:rPr>
              <a:t>Join ordering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77072" y="3703320"/>
            <a:ext cx="2697479" cy="63093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E241F"/>
                </a:solidFill>
                <a:latin typeface="Aptos"/>
              </a:rPr>
              <a:t>Estimated join order changes intermediate work in the model.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94192" y="4663440"/>
            <a:ext cx="3017520" cy="1051560"/>
          </a:xfrm>
          <a:prstGeom prst="roundRect">
            <a:avLst>
              <a:gd name="adj" fmla="val 10000"/>
            </a:avLst>
          </a:prstGeom>
          <a:solidFill>
            <a:srgbClr val="FFFCF7"/>
          </a:solidFill>
          <a:ln w="10160">
            <a:solidFill>
              <a:srgbClr val="E7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394192" y="4663440"/>
            <a:ext cx="68580" cy="1051560"/>
          </a:xfrm>
          <a:prstGeom prst="rect">
            <a:avLst/>
          </a:prstGeom>
          <a:solidFill>
            <a:srgbClr val="E0A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77072" y="4800600"/>
            <a:ext cx="2697479" cy="32004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402219"/>
                </a:solidFill>
                <a:latin typeface="Georgia"/>
              </a:rPr>
              <a:t>Selection rule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77072" y="5184648"/>
            <a:ext cx="2697479" cy="448055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E241F"/>
                </a:solidFill>
                <a:latin typeface="Aptos"/>
              </a:rPr>
              <a:t>Minimum estimated cost wins.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0881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45643"/>
                </a:solidFill>
                <a:latin typeface="Aptos"/>
              </a:rPr>
              <a:t>TECHNICAL ACCURACY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94360"/>
            <a:ext cx="1097280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402219"/>
                </a:solidFill>
                <a:latin typeface="Georgia"/>
              </a:rPr>
              <a:t>Keep COSTRA's estimate separate from SQLite's execution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1124712"/>
            <a:ext cx="594360" cy="50292"/>
          </a:xfrm>
          <a:prstGeom prst="rect">
            <a:avLst/>
          </a:prstGeom>
          <a:solidFill>
            <a:srgbClr val="E0A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8138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7D6A5F"/>
                </a:solidFill>
                <a:latin typeface="Aptos"/>
              </a:rPr>
              <a:t>COSTRA  •  COMPILER DESIGN LABORATORY  •  FINAL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02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>
                <a:solidFill>
                  <a:srgbClr val="7D6A5F"/>
                </a:solidFill>
                <a:latin typeface="Aptos"/>
              </a:rPr>
              <a:t>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00200"/>
            <a:ext cx="5212080" cy="3474720"/>
          </a:xfrm>
          <a:prstGeom prst="roundRect">
            <a:avLst>
              <a:gd name="adj" fmla="val 10000"/>
            </a:avLst>
          </a:prstGeom>
          <a:solidFill>
            <a:srgbClr val="F0E5D5"/>
          </a:solidFill>
          <a:ln w="10160">
            <a:solidFill>
              <a:srgbClr val="E7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1828800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402219"/>
                </a:solidFill>
                <a:latin typeface="Georgia"/>
              </a:rPr>
              <a:t>COSTRA</a:t>
            </a:r>
          </a:p>
        </p:txBody>
      </p:sp>
      <p:sp>
        <p:nvSpPr>
          <p:cNvPr id="9" name="Oval 8"/>
          <p:cNvSpPr/>
          <p:nvPr/>
        </p:nvSpPr>
        <p:spPr>
          <a:xfrm>
            <a:off x="1005840" y="2496312"/>
            <a:ext cx="77724" cy="77724"/>
          </a:xfrm>
          <a:prstGeom prst="ellipse">
            <a:avLst/>
          </a:prstGeom>
          <a:solidFill>
            <a:srgbClr val="C45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07008" y="2395728"/>
            <a:ext cx="4279392" cy="4846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E241F"/>
                </a:solidFill>
                <a:latin typeface="Aptos"/>
              </a:rPr>
              <a:t>Builds logical IR</a:t>
            </a:r>
          </a:p>
        </p:txBody>
      </p:sp>
      <p:sp>
        <p:nvSpPr>
          <p:cNvPr id="11" name="Oval 10"/>
          <p:cNvSpPr/>
          <p:nvPr/>
        </p:nvSpPr>
        <p:spPr>
          <a:xfrm>
            <a:off x="1005840" y="2980944"/>
            <a:ext cx="77724" cy="77724"/>
          </a:xfrm>
          <a:prstGeom prst="ellipse">
            <a:avLst/>
          </a:prstGeom>
          <a:solidFill>
            <a:srgbClr val="C45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07008" y="2880360"/>
            <a:ext cx="4279392" cy="4846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E241F"/>
                </a:solidFill>
                <a:latin typeface="Aptos"/>
              </a:rPr>
              <a:t>Uses synthetic cardinality / selectivity</a:t>
            </a:r>
          </a:p>
        </p:txBody>
      </p:sp>
      <p:sp>
        <p:nvSpPr>
          <p:cNvPr id="13" name="Oval 12"/>
          <p:cNvSpPr/>
          <p:nvPr/>
        </p:nvSpPr>
        <p:spPr>
          <a:xfrm>
            <a:off x="1005840" y="3465576"/>
            <a:ext cx="77724" cy="77724"/>
          </a:xfrm>
          <a:prstGeom prst="ellipse">
            <a:avLst/>
          </a:prstGeom>
          <a:solidFill>
            <a:srgbClr val="C45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07008" y="3364992"/>
            <a:ext cx="4279392" cy="4846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E241F"/>
                </a:solidFill>
                <a:latin typeface="Aptos"/>
              </a:rPr>
              <a:t>Generates and ranks candidate estimates</a:t>
            </a:r>
          </a:p>
        </p:txBody>
      </p:sp>
      <p:sp>
        <p:nvSpPr>
          <p:cNvPr id="15" name="Oval 14"/>
          <p:cNvSpPr/>
          <p:nvPr/>
        </p:nvSpPr>
        <p:spPr>
          <a:xfrm>
            <a:off x="1005840" y="3950208"/>
            <a:ext cx="77724" cy="77724"/>
          </a:xfrm>
          <a:prstGeom prst="ellipse">
            <a:avLst/>
          </a:prstGeom>
          <a:solidFill>
            <a:srgbClr val="C45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07008" y="3849624"/>
            <a:ext cx="4279392" cy="4846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E241F"/>
                </a:solidFill>
                <a:latin typeface="Aptos"/>
              </a:rPr>
              <a:t>Displays selected estimated plan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6208" y="1600200"/>
            <a:ext cx="5212080" cy="3474720"/>
          </a:xfrm>
          <a:prstGeom prst="roundRect">
            <a:avLst>
              <a:gd name="adj" fmla="val 10000"/>
            </a:avLst>
          </a:prstGeom>
          <a:solidFill>
            <a:srgbClr val="FFFCF7"/>
          </a:solidFill>
          <a:ln w="10160">
            <a:solidFill>
              <a:srgbClr val="E7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1828800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66765B"/>
                </a:solidFill>
                <a:latin typeface="Georgia"/>
              </a:rPr>
              <a:t>SQLITE</a:t>
            </a:r>
          </a:p>
        </p:txBody>
      </p:sp>
      <p:sp>
        <p:nvSpPr>
          <p:cNvPr id="19" name="Oval 18"/>
          <p:cNvSpPr/>
          <p:nvPr/>
        </p:nvSpPr>
        <p:spPr>
          <a:xfrm>
            <a:off x="6510528" y="2496312"/>
            <a:ext cx="77724" cy="77724"/>
          </a:xfrm>
          <a:prstGeom prst="ellipse">
            <a:avLst/>
          </a:prstGeom>
          <a:solidFill>
            <a:srgbClr val="667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11696" y="2395728"/>
            <a:ext cx="4279392" cy="4846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E241F"/>
                </a:solidFill>
                <a:latin typeface="Aptos"/>
              </a:rPr>
              <a:t>Receives normalized SQL</a:t>
            </a:r>
          </a:p>
        </p:txBody>
      </p:sp>
      <p:sp>
        <p:nvSpPr>
          <p:cNvPr id="21" name="Oval 20"/>
          <p:cNvSpPr/>
          <p:nvPr/>
        </p:nvSpPr>
        <p:spPr>
          <a:xfrm>
            <a:off x="6510528" y="2980944"/>
            <a:ext cx="77724" cy="77724"/>
          </a:xfrm>
          <a:prstGeom prst="ellipse">
            <a:avLst/>
          </a:prstGeom>
          <a:solidFill>
            <a:srgbClr val="667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11696" y="2880360"/>
            <a:ext cx="4279392" cy="4846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E241F"/>
                </a:solidFill>
                <a:latin typeface="Aptos"/>
              </a:rPr>
              <a:t>Uses its own internal planner</a:t>
            </a:r>
          </a:p>
        </p:txBody>
      </p:sp>
      <p:sp>
        <p:nvSpPr>
          <p:cNvPr id="23" name="Oval 22"/>
          <p:cNvSpPr/>
          <p:nvPr/>
        </p:nvSpPr>
        <p:spPr>
          <a:xfrm>
            <a:off x="6510528" y="3465576"/>
            <a:ext cx="77724" cy="77724"/>
          </a:xfrm>
          <a:prstGeom prst="ellipse">
            <a:avLst/>
          </a:prstGeom>
          <a:solidFill>
            <a:srgbClr val="667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11696" y="3364992"/>
            <a:ext cx="4279392" cy="4846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E241F"/>
                </a:solidFill>
                <a:latin typeface="Aptos"/>
              </a:rPr>
              <a:t>Executes against the seeded in-memory database</a:t>
            </a:r>
          </a:p>
        </p:txBody>
      </p:sp>
      <p:sp>
        <p:nvSpPr>
          <p:cNvPr id="25" name="Oval 24"/>
          <p:cNvSpPr/>
          <p:nvPr/>
        </p:nvSpPr>
        <p:spPr>
          <a:xfrm>
            <a:off x="6510528" y="3950208"/>
            <a:ext cx="77724" cy="77724"/>
          </a:xfrm>
          <a:prstGeom prst="ellipse">
            <a:avLst/>
          </a:prstGeom>
          <a:solidFill>
            <a:srgbClr val="667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11696" y="3849624"/>
            <a:ext cx="4279392" cy="4846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E241F"/>
                </a:solidFill>
                <a:latin typeface="Aptos"/>
              </a:rPr>
              <a:t>Returns rows and its own EXPLAIN plan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5486400"/>
            <a:ext cx="10332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A74C40"/>
                </a:solidFill>
                <a:latin typeface="Georgia"/>
              </a:rPr>
              <a:t>COSTRA's chosen candidate is not injected into SQLite. This is a key implementation boundary, not a hidden feature.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0881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45643"/>
                </a:solidFill>
                <a:latin typeface="Aptos"/>
              </a:rPr>
              <a:t>EXECUTION STAGE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94360"/>
            <a:ext cx="1097280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402219"/>
                </a:solidFill>
                <a:latin typeface="Georgia"/>
              </a:rPr>
              <a:t>The validated query is rendered as normalized SQL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1124712"/>
            <a:ext cx="594360" cy="50292"/>
          </a:xfrm>
          <a:prstGeom prst="rect">
            <a:avLst/>
          </a:prstGeom>
          <a:solidFill>
            <a:srgbClr val="E0A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8138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7D6A5F"/>
                </a:solidFill>
                <a:latin typeface="Aptos"/>
              </a:rPr>
              <a:t>COSTRA  •  COMPILER DESIGN LABORATORY  •  FINAL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02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>
                <a:solidFill>
                  <a:srgbClr val="7D6A5F"/>
                </a:solidFill>
                <a:latin typeface="Aptos"/>
              </a:rPr>
              <a:t>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508760"/>
            <a:ext cx="10789920" cy="3566160"/>
          </a:xfrm>
          <a:prstGeom prst="roundRect">
            <a:avLst>
              <a:gd name="adj" fmla="val 10000"/>
            </a:avLst>
          </a:prstGeom>
          <a:solidFill>
            <a:srgbClr val="211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600200"/>
            <a:ext cx="104790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E0AA3A"/>
                </a:solidFill>
                <a:latin typeface="Aptos"/>
              </a:rPr>
              <a:t>SQL PRODUCED BY THE FORMATTER / PASSED TO SQLITE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1828800"/>
            <a:ext cx="10460736" cy="31729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70" b="0" i="0">
                <a:solidFill>
                  <a:srgbClr val="F9F0E4"/>
                </a:solidFill>
                <a:latin typeface="Aptos Mono"/>
              </a:rPr>
              <a:t>SELECT d.name AS department, COUNT(e.id) AS employee_count, AVG(e.salary) AS average_salary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70" b="0" i="0">
                <a:solidFill>
                  <a:srgbClr val="F9F0E4"/>
                </a:solidFill>
                <a:latin typeface="Aptos Mono"/>
              </a:rPr>
              <a:t>FROM Employee AS e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70" b="0" i="0">
                <a:solidFill>
                  <a:srgbClr val="F9F0E4"/>
                </a:solidFill>
                <a:latin typeface="Aptos Mono"/>
              </a:rPr>
              <a:t>INNER JOIN Department AS d ON (e.dept_id = d.id)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70" b="0" i="0">
                <a:solidFill>
                  <a:srgbClr val="F9F0E4"/>
                </a:solidFill>
                <a:latin typeface="Aptos Mono"/>
              </a:rPr>
              <a:t>INNER JOIN Assignment AS a ON (e.id = a.employee_id)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70" b="0" i="0">
                <a:solidFill>
                  <a:srgbClr val="F9F0E4"/>
                </a:solidFill>
                <a:latin typeface="Aptos Mono"/>
              </a:rPr>
              <a:t>INNER JOIN Project AS p ON (a.project_id = p.id)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70" b="0" i="0">
                <a:solidFill>
                  <a:srgbClr val="F9F0E4"/>
                </a:solidFill>
                <a:latin typeface="Aptos Mono"/>
              </a:rPr>
              <a:t>WHERE ((e.salary &gt; 60000) AND (p.budget &gt; 100000))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70" b="0" i="0">
                <a:solidFill>
                  <a:srgbClr val="F9F0E4"/>
                </a:solidFill>
                <a:latin typeface="Aptos Mono"/>
              </a:rPr>
              <a:t>GROUP BY d.name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70" b="0" i="0">
                <a:solidFill>
                  <a:srgbClr val="F9F0E4"/>
                </a:solidFill>
                <a:latin typeface="Aptos Mono"/>
              </a:rPr>
              <a:t>HAVING (AVG(e.salary) &gt; 65000)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70" b="0" i="0">
                <a:solidFill>
                  <a:srgbClr val="F9F0E4"/>
                </a:solidFill>
                <a:latin typeface="Aptos Mono"/>
              </a:rPr>
              <a:t>ORDER BY AVG(e.salary) DESC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70" b="0" i="0">
                <a:solidFill>
                  <a:srgbClr val="F9F0E4"/>
                </a:solidFill>
                <a:latin typeface="Aptos Mono"/>
              </a:rPr>
              <a:t>LIMIT 5;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5394960"/>
            <a:ext cx="101498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 i="1">
                <a:solidFill>
                  <a:srgbClr val="7D6A5F"/>
                </a:solidFill>
                <a:latin typeface="Aptos"/>
              </a:rPr>
              <a:t>The normalized SQL carries the same supported logical clauses; SQLite then parses and plans it independently.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0881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45643"/>
                </a:solidFill>
                <a:latin typeface="Aptos"/>
              </a:rPr>
              <a:t>OBSERVED OUTPUT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94360"/>
            <a:ext cx="1097280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402219"/>
                </a:solidFill>
                <a:latin typeface="Georgia"/>
              </a:rPr>
              <a:t>The demo returns three department rows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1124712"/>
            <a:ext cx="594360" cy="50292"/>
          </a:xfrm>
          <a:prstGeom prst="rect">
            <a:avLst/>
          </a:prstGeom>
          <a:solidFill>
            <a:srgbClr val="E0A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8138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7D6A5F"/>
                </a:solidFill>
                <a:latin typeface="Aptos"/>
              </a:rPr>
              <a:t>COSTRA  •  COMPILER DESIGN LABORATORY  •  FINAL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02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>
                <a:solidFill>
                  <a:srgbClr val="7D6A5F"/>
                </a:solidFill>
                <a:latin typeface="Aptos"/>
              </a:rPr>
              <a:t>22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" y="1847088"/>
            <a:ext cx="3108960" cy="594360"/>
          </a:xfrm>
          <a:prstGeom prst="rect">
            <a:avLst/>
          </a:prstGeom>
          <a:solidFill>
            <a:srgbClr val="402219"/>
          </a:solidFill>
          <a:ln w="10160">
            <a:solidFill>
              <a:srgbClr val="E7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9848" y="1874519"/>
            <a:ext cx="2980944" cy="539496"/>
          </a:xfrm>
          <a:prstGeom prst="rect">
            <a:avLst/>
          </a:prstGeom>
          <a:noFill/>
        </p:spPr>
        <p:txBody>
          <a:bodyPr wrap="square" lIns="4572" rIns="4572" tIns="4572" bIns="457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FFCF7"/>
                </a:solidFill>
                <a:latin typeface="Aptos"/>
              </a:rPr>
              <a:t>Department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0" y="1847088"/>
            <a:ext cx="2468880" cy="594360"/>
          </a:xfrm>
          <a:prstGeom prst="rect">
            <a:avLst/>
          </a:prstGeom>
          <a:solidFill>
            <a:srgbClr val="402219"/>
          </a:solidFill>
          <a:ln w="10160">
            <a:solidFill>
              <a:srgbClr val="E7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78808" y="1874519"/>
            <a:ext cx="2340864" cy="539496"/>
          </a:xfrm>
          <a:prstGeom prst="rect">
            <a:avLst/>
          </a:prstGeom>
          <a:noFill/>
        </p:spPr>
        <p:txBody>
          <a:bodyPr wrap="square" lIns="4572" rIns="4572" tIns="4572" bIns="457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FFCF7"/>
                </a:solidFill>
                <a:latin typeface="Aptos"/>
              </a:rPr>
              <a:t>Employee count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0" y="1847088"/>
            <a:ext cx="3200400" cy="594360"/>
          </a:xfrm>
          <a:prstGeom prst="rect">
            <a:avLst/>
          </a:prstGeom>
          <a:solidFill>
            <a:srgbClr val="402219"/>
          </a:solidFill>
          <a:ln w="10160">
            <a:solidFill>
              <a:srgbClr val="E7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47688" y="1874519"/>
            <a:ext cx="3072384" cy="539496"/>
          </a:xfrm>
          <a:prstGeom prst="rect">
            <a:avLst/>
          </a:prstGeom>
          <a:noFill/>
        </p:spPr>
        <p:txBody>
          <a:bodyPr wrap="square" lIns="4572" rIns="4572" tIns="4572" bIns="4572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FFCF7"/>
                </a:solidFill>
                <a:latin typeface="Aptos"/>
              </a:rPr>
              <a:t>Average salary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05840" y="2441448"/>
            <a:ext cx="3108960" cy="594360"/>
          </a:xfrm>
          <a:prstGeom prst="rect">
            <a:avLst/>
          </a:prstGeom>
          <a:solidFill>
            <a:srgbClr val="FFFCF7"/>
          </a:solidFill>
          <a:ln w="10160">
            <a:solidFill>
              <a:srgbClr val="E7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9848" y="2468879"/>
            <a:ext cx="2980944" cy="539496"/>
          </a:xfrm>
          <a:prstGeom prst="rect">
            <a:avLst/>
          </a:prstGeom>
          <a:noFill/>
        </p:spPr>
        <p:txBody>
          <a:bodyPr wrap="square" lIns="4572" rIns="4572" tIns="4572" bIns="457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E241F"/>
                </a:solidFill>
                <a:latin typeface="Aptos"/>
              </a:rPr>
              <a:t>Finance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0" y="2441448"/>
            <a:ext cx="2468880" cy="594360"/>
          </a:xfrm>
          <a:prstGeom prst="rect">
            <a:avLst/>
          </a:prstGeom>
          <a:solidFill>
            <a:srgbClr val="FFFCF7"/>
          </a:solidFill>
          <a:ln w="10160">
            <a:solidFill>
              <a:srgbClr val="E7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78808" y="2468879"/>
            <a:ext cx="2340864" cy="539496"/>
          </a:xfrm>
          <a:prstGeom prst="rect">
            <a:avLst/>
          </a:prstGeom>
          <a:noFill/>
        </p:spPr>
        <p:txBody>
          <a:bodyPr wrap="square" lIns="4572" rIns="4572" tIns="4572" bIns="457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E241F"/>
                </a:solidFill>
                <a:latin typeface="Aptos"/>
              </a:rPr>
              <a:t>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0" y="2441448"/>
            <a:ext cx="3200400" cy="594360"/>
          </a:xfrm>
          <a:prstGeom prst="rect">
            <a:avLst/>
          </a:prstGeom>
          <a:solidFill>
            <a:srgbClr val="FFFCF7"/>
          </a:solidFill>
          <a:ln w="10160">
            <a:solidFill>
              <a:srgbClr val="E7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47688" y="2468879"/>
            <a:ext cx="3072384" cy="539496"/>
          </a:xfrm>
          <a:prstGeom prst="rect">
            <a:avLst/>
          </a:prstGeom>
          <a:noFill/>
        </p:spPr>
        <p:txBody>
          <a:bodyPr wrap="square" lIns="4572" rIns="4572" tIns="4572" bIns="4572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E241F"/>
                </a:solidFill>
                <a:latin typeface="Aptos"/>
              </a:rPr>
              <a:t>91,000.0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05840" y="3035808"/>
            <a:ext cx="3108960" cy="594360"/>
          </a:xfrm>
          <a:prstGeom prst="rect">
            <a:avLst/>
          </a:prstGeom>
          <a:solidFill>
            <a:srgbClr val="FBF7EF"/>
          </a:solidFill>
          <a:ln w="10160">
            <a:solidFill>
              <a:srgbClr val="E7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69848" y="3063240"/>
            <a:ext cx="2980944" cy="539496"/>
          </a:xfrm>
          <a:prstGeom prst="rect">
            <a:avLst/>
          </a:prstGeom>
          <a:noFill/>
        </p:spPr>
        <p:txBody>
          <a:bodyPr wrap="square" lIns="4572" rIns="4572" tIns="4572" bIns="457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E241F"/>
                </a:solidFill>
                <a:latin typeface="Aptos"/>
              </a:rPr>
              <a:t>Engineering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0" y="3035808"/>
            <a:ext cx="2468880" cy="594360"/>
          </a:xfrm>
          <a:prstGeom prst="rect">
            <a:avLst/>
          </a:prstGeom>
          <a:solidFill>
            <a:srgbClr val="FBF7EF"/>
          </a:solidFill>
          <a:ln w="10160">
            <a:solidFill>
              <a:srgbClr val="E7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78808" y="3063240"/>
            <a:ext cx="2340864" cy="539496"/>
          </a:xfrm>
          <a:prstGeom prst="rect">
            <a:avLst/>
          </a:prstGeom>
          <a:noFill/>
        </p:spPr>
        <p:txBody>
          <a:bodyPr wrap="square" lIns="4572" rIns="4572" tIns="4572" bIns="457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E241F"/>
                </a:solidFill>
                <a:latin typeface="Aptos"/>
              </a:rPr>
              <a:t>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0" y="3035808"/>
            <a:ext cx="3200400" cy="594360"/>
          </a:xfrm>
          <a:prstGeom prst="rect">
            <a:avLst/>
          </a:prstGeom>
          <a:solidFill>
            <a:srgbClr val="FBF7EF"/>
          </a:solidFill>
          <a:ln w="10160">
            <a:solidFill>
              <a:srgbClr val="E7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47688" y="3063240"/>
            <a:ext cx="3072384" cy="539496"/>
          </a:xfrm>
          <a:prstGeom prst="rect">
            <a:avLst/>
          </a:prstGeom>
          <a:noFill/>
        </p:spPr>
        <p:txBody>
          <a:bodyPr wrap="square" lIns="4572" rIns="4572" tIns="4572" bIns="4572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E241F"/>
                </a:solidFill>
                <a:latin typeface="Aptos"/>
              </a:rPr>
              <a:t>79,600.0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05840" y="3630168"/>
            <a:ext cx="3108960" cy="594360"/>
          </a:xfrm>
          <a:prstGeom prst="rect">
            <a:avLst/>
          </a:prstGeom>
          <a:solidFill>
            <a:srgbClr val="FFFCF7"/>
          </a:solidFill>
          <a:ln w="10160">
            <a:solidFill>
              <a:srgbClr val="E7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69848" y="3657600"/>
            <a:ext cx="2980944" cy="539496"/>
          </a:xfrm>
          <a:prstGeom prst="rect">
            <a:avLst/>
          </a:prstGeom>
          <a:noFill/>
        </p:spPr>
        <p:txBody>
          <a:bodyPr wrap="square" lIns="4572" rIns="4572" tIns="4572" bIns="457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E241F"/>
                </a:solidFill>
                <a:latin typeface="Aptos"/>
              </a:rPr>
              <a:t>HR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0" y="3630168"/>
            <a:ext cx="2468880" cy="594360"/>
          </a:xfrm>
          <a:prstGeom prst="rect">
            <a:avLst/>
          </a:prstGeom>
          <a:solidFill>
            <a:srgbClr val="FFFCF7"/>
          </a:solidFill>
          <a:ln w="10160">
            <a:solidFill>
              <a:srgbClr val="E7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78808" y="3657600"/>
            <a:ext cx="2340864" cy="539496"/>
          </a:xfrm>
          <a:prstGeom prst="rect">
            <a:avLst/>
          </a:prstGeom>
          <a:noFill/>
        </p:spPr>
        <p:txBody>
          <a:bodyPr wrap="square" lIns="4572" rIns="4572" tIns="4572" bIns="457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E241F"/>
                </a:solidFill>
                <a:latin typeface="Aptos"/>
              </a:rPr>
              <a:t>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0" y="3630168"/>
            <a:ext cx="3200400" cy="594360"/>
          </a:xfrm>
          <a:prstGeom prst="rect">
            <a:avLst/>
          </a:prstGeom>
          <a:solidFill>
            <a:srgbClr val="FFFCF7"/>
          </a:solidFill>
          <a:ln w="10160">
            <a:solidFill>
              <a:srgbClr val="E7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47688" y="3657600"/>
            <a:ext cx="3072384" cy="539496"/>
          </a:xfrm>
          <a:prstGeom prst="rect">
            <a:avLst/>
          </a:prstGeom>
          <a:noFill/>
        </p:spPr>
        <p:txBody>
          <a:bodyPr wrap="square" lIns="4572" rIns="4572" tIns="4572" bIns="4572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E241F"/>
                </a:solidFill>
                <a:latin typeface="Aptos"/>
              </a:rPr>
              <a:t>69,000.0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05840" y="4663440"/>
            <a:ext cx="8778240" cy="731520"/>
          </a:xfrm>
          <a:prstGeom prst="roundRect">
            <a:avLst>
              <a:gd name="adj" fmla="val 10000"/>
            </a:avLst>
          </a:prstGeom>
          <a:solidFill>
            <a:srgbClr val="F0E5D5"/>
          </a:solidFill>
          <a:ln w="10160">
            <a:solidFill>
              <a:srgbClr val="E7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234440" y="4864608"/>
            <a:ext cx="82296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402219"/>
                </a:solidFill>
                <a:latin typeface="Georgia"/>
              </a:rPr>
              <a:t>Result count: 3 rows  •  Output is repeatable on the seeded in-memory fixture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4128" y="562356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7D6A5F"/>
                </a:solidFill>
                <a:latin typeface="Aptos"/>
              </a:rPr>
              <a:t>Small fixture results are for demonstration and testing; they are not production-data performance claims.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0881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45643"/>
                </a:solidFill>
                <a:latin typeface="Aptos"/>
              </a:rPr>
              <a:t>EXECUTION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94360"/>
            <a:ext cx="1097280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402219"/>
                </a:solidFill>
                <a:latin typeface="Georgia"/>
              </a:rPr>
              <a:t>SQLite exposes its own query plan separately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1124712"/>
            <a:ext cx="594360" cy="50292"/>
          </a:xfrm>
          <a:prstGeom prst="rect">
            <a:avLst/>
          </a:prstGeom>
          <a:solidFill>
            <a:srgbClr val="E0A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8138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7D6A5F"/>
                </a:solidFill>
                <a:latin typeface="Aptos"/>
              </a:rPr>
              <a:t>COSTRA  •  COMPILER DESIGN LABORATORY  •  FINAL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02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>
                <a:solidFill>
                  <a:srgbClr val="7D6A5F"/>
                </a:solidFill>
                <a:latin typeface="Aptos"/>
              </a:rPr>
              <a:t>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554480"/>
            <a:ext cx="6858000" cy="4251960"/>
          </a:xfrm>
          <a:prstGeom prst="roundRect">
            <a:avLst>
              <a:gd name="adj" fmla="val 10000"/>
            </a:avLst>
          </a:prstGeom>
          <a:solidFill>
            <a:srgbClr val="211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45920"/>
            <a:ext cx="654710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E0AA3A"/>
                </a:solidFill>
                <a:latin typeface="Aptos"/>
              </a:rPr>
              <a:t>SQLITE EXPLAIN QUERY PLAN EXCERPT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1874519"/>
            <a:ext cx="6528816" cy="38587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20" b="0" i="0">
                <a:solidFill>
                  <a:srgbClr val="F9F0E4"/>
                </a:solidFill>
                <a:latin typeface="Aptos Mono"/>
              </a:rPr>
              <a:t>SEARCH e USING INDEX idx_employee_salary (salary&gt;?)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20" b="0" i="0">
                <a:solidFill>
                  <a:srgbClr val="F9F0E4"/>
                </a:solidFill>
                <a:latin typeface="Aptos Mono"/>
              </a:rPr>
              <a:t>SEARCH a USING COVERING INDEX sqlite_autoindex_Assignment_1 (employee_id=?)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20" b="0" i="0">
                <a:solidFill>
                  <a:srgbClr val="F9F0E4"/>
                </a:solidFill>
                <a:latin typeface="Aptos Mono"/>
              </a:rPr>
              <a:t>SEARCH p USING INTEGER PRIMARY KEY (rowid=?)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20" b="0" i="0">
                <a:solidFill>
                  <a:srgbClr val="F9F0E4"/>
                </a:solidFill>
                <a:latin typeface="Aptos Mono"/>
              </a:rPr>
              <a:t>SEARCH d USING INTEGER PRIMARY KEY (rowid=?)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20" b="0" i="0">
                <a:solidFill>
                  <a:srgbClr val="F9F0E4"/>
                </a:solidFill>
                <a:latin typeface="Aptos Mono"/>
              </a:rPr>
              <a:t>USE TEMP B-TREE FOR GROUP BY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20" b="0" i="0">
                <a:solidFill>
                  <a:srgbClr val="F9F0E4"/>
                </a:solidFill>
                <a:latin typeface="Aptos Mono"/>
              </a:rPr>
              <a:t>USE TEMP B-TREE FOR ORDER BY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09560" y="1783080"/>
            <a:ext cx="3474720" cy="1234440"/>
          </a:xfrm>
          <a:prstGeom prst="roundRect">
            <a:avLst>
              <a:gd name="adj" fmla="val 10000"/>
            </a:avLst>
          </a:prstGeom>
          <a:solidFill>
            <a:srgbClr val="FFFCF7"/>
          </a:solidFill>
          <a:ln w="10160">
            <a:solidFill>
              <a:srgbClr val="E7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09560" y="1783080"/>
            <a:ext cx="68580" cy="1234440"/>
          </a:xfrm>
          <a:prstGeom prst="rect">
            <a:avLst/>
          </a:prstGeom>
          <a:solidFill>
            <a:srgbClr val="667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92440" y="1920240"/>
            <a:ext cx="3154679" cy="32004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402219"/>
                </a:solidFill>
                <a:latin typeface="Georgia"/>
              </a:rPr>
              <a:t>Why show this?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2440" y="2304288"/>
            <a:ext cx="3154679" cy="63093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E241F"/>
                </a:solidFill>
                <a:latin typeface="Aptos"/>
              </a:rPr>
              <a:t>It is direct evidence of the execution engine's chosen strategy.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09560" y="3291840"/>
            <a:ext cx="3474720" cy="1234440"/>
          </a:xfrm>
          <a:prstGeom prst="roundRect">
            <a:avLst>
              <a:gd name="adj" fmla="val 10000"/>
            </a:avLst>
          </a:prstGeom>
          <a:solidFill>
            <a:srgbClr val="FFFCF7"/>
          </a:solidFill>
          <a:ln w="10160">
            <a:solidFill>
              <a:srgbClr val="E7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09560" y="3291840"/>
            <a:ext cx="68580" cy="1234440"/>
          </a:xfrm>
          <a:prstGeom prst="rect">
            <a:avLst/>
          </a:prstGeom>
          <a:solidFill>
            <a:srgbClr val="E0A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92440" y="3429000"/>
            <a:ext cx="3154679" cy="32004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402219"/>
                </a:solidFill>
                <a:latin typeface="Georgia"/>
              </a:rPr>
              <a:t>Compare carefully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2440" y="3813048"/>
            <a:ext cx="3154679" cy="63093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E241F"/>
                </a:solidFill>
                <a:latin typeface="Aptos"/>
              </a:rPr>
              <a:t>This output is not COSTRA's selected estimated physical plan.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65008" y="4983480"/>
            <a:ext cx="3108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A74C40"/>
                </a:solidFill>
                <a:latin typeface="Georgia"/>
              </a:rPr>
              <a:t>Separate labels prevent a false claim of plan injection.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0881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45643"/>
                </a:solidFill>
                <a:latin typeface="Aptos"/>
              </a:rPr>
              <a:t>PERFORMANCE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94360"/>
            <a:ext cx="1097280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402219"/>
                </a:solidFill>
                <a:latin typeface="Georgia"/>
              </a:rPr>
              <a:t>Observed stage timings from the full demo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1124712"/>
            <a:ext cx="594360" cy="50292"/>
          </a:xfrm>
          <a:prstGeom prst="rect">
            <a:avLst/>
          </a:prstGeom>
          <a:solidFill>
            <a:srgbClr val="E0A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53312" y="1042415"/>
            <a:ext cx="10241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7D6A5F"/>
                </a:solidFill>
                <a:latin typeface="Aptos"/>
              </a:rPr>
              <a:t>One local run on a tiny in-memory fixture; these timings are examples, not general benchmark claims.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8138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7D6A5F"/>
                </a:solidFill>
                <a:latin typeface="Aptos"/>
              </a:rPr>
              <a:t>COSTRA  •  COMPILER DESIGN LABORATORY  •  FINAL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73952"/>
            <a:ext cx="502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>
                <a:solidFill>
                  <a:srgbClr val="7D6A5F"/>
                </a:solidFill>
                <a:latin typeface="Aptos"/>
              </a:rPr>
              <a:t>24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572768"/>
            <a:ext cx="4069080" cy="448056"/>
          </a:xfrm>
          <a:prstGeom prst="rect">
            <a:avLst/>
          </a:prstGeom>
          <a:solidFill>
            <a:srgbClr val="402219"/>
          </a:solidFill>
          <a:ln w="10160">
            <a:solidFill>
              <a:srgbClr val="E7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600200"/>
            <a:ext cx="3941064" cy="393192"/>
          </a:xfrm>
          <a:prstGeom prst="rect">
            <a:avLst/>
          </a:prstGeom>
          <a:noFill/>
        </p:spPr>
        <p:txBody>
          <a:bodyPr wrap="square" lIns="4572" rIns="4572" tIns="4572" bIns="457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70" b="1" i="0">
                <a:solidFill>
                  <a:srgbClr val="FFFCF7"/>
                </a:solidFill>
                <a:latin typeface="Aptos"/>
              </a:rPr>
              <a:t>Stage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0" y="1572768"/>
            <a:ext cx="1965960" cy="448056"/>
          </a:xfrm>
          <a:prstGeom prst="rect">
            <a:avLst/>
          </a:prstGeom>
          <a:solidFill>
            <a:srgbClr val="402219"/>
          </a:solidFill>
          <a:ln w="10160">
            <a:solidFill>
              <a:srgbClr val="E7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18888" y="1600200"/>
            <a:ext cx="1837943" cy="393192"/>
          </a:xfrm>
          <a:prstGeom prst="rect">
            <a:avLst/>
          </a:prstGeom>
          <a:noFill/>
        </p:spPr>
        <p:txBody>
          <a:bodyPr wrap="square" lIns="4572" rIns="4572" tIns="4572" bIns="4572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70" b="1" i="0">
                <a:solidFill>
                  <a:srgbClr val="FFFCF7"/>
                </a:solidFill>
                <a:latin typeface="Aptos"/>
              </a:rPr>
              <a:t>Observed time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720840" y="1572768"/>
            <a:ext cx="2423160" cy="448056"/>
          </a:xfrm>
          <a:prstGeom prst="rect">
            <a:avLst/>
          </a:prstGeom>
          <a:solidFill>
            <a:srgbClr val="402219"/>
          </a:solidFill>
          <a:ln w="10160">
            <a:solidFill>
              <a:srgbClr val="E7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84848" y="1600200"/>
            <a:ext cx="2295144" cy="393192"/>
          </a:xfrm>
          <a:prstGeom prst="rect">
            <a:avLst/>
          </a:prstGeom>
          <a:noFill/>
        </p:spPr>
        <p:txBody>
          <a:bodyPr wrap="square" lIns="4572" rIns="4572" tIns="4572" bIns="457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70" b="1" i="0">
                <a:solidFill>
                  <a:srgbClr val="FFFCF7"/>
                </a:solidFill>
                <a:latin typeface="Aptos"/>
              </a:rPr>
              <a:t>What it measures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2020824"/>
            <a:ext cx="4069080" cy="448056"/>
          </a:xfrm>
          <a:prstGeom prst="rect">
            <a:avLst/>
          </a:prstGeom>
          <a:solidFill>
            <a:srgbClr val="FFFCF7"/>
          </a:solidFill>
          <a:ln w="10160">
            <a:solidFill>
              <a:srgbClr val="E7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2048255"/>
            <a:ext cx="3941064" cy="393192"/>
          </a:xfrm>
          <a:prstGeom prst="rect">
            <a:avLst/>
          </a:prstGeom>
          <a:noFill/>
        </p:spPr>
        <p:txBody>
          <a:bodyPr wrap="square" lIns="4572" rIns="4572" tIns="4572" bIns="457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2E241F"/>
                </a:solidFill>
                <a:latin typeface="Aptos"/>
              </a:rPr>
              <a:t>Lexical analysis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54880" y="2020824"/>
            <a:ext cx="1965960" cy="448056"/>
          </a:xfrm>
          <a:prstGeom prst="rect">
            <a:avLst/>
          </a:prstGeom>
          <a:solidFill>
            <a:srgbClr val="FFFCF7"/>
          </a:solidFill>
          <a:ln w="10160">
            <a:solidFill>
              <a:srgbClr val="E7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18888" y="2048255"/>
            <a:ext cx="1837943" cy="393192"/>
          </a:xfrm>
          <a:prstGeom prst="rect">
            <a:avLst/>
          </a:prstGeom>
          <a:noFill/>
        </p:spPr>
        <p:txBody>
          <a:bodyPr wrap="square" lIns="4572" rIns="4572" tIns="4572" bIns="4572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2E241F"/>
                </a:solidFill>
                <a:latin typeface="Aptos"/>
              </a:rPr>
              <a:t>0.093 ms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720840" y="2020824"/>
            <a:ext cx="2423160" cy="448056"/>
          </a:xfrm>
          <a:prstGeom prst="rect">
            <a:avLst/>
          </a:prstGeom>
          <a:solidFill>
            <a:srgbClr val="FFFCF7"/>
          </a:solidFill>
          <a:ln w="10160">
            <a:solidFill>
              <a:srgbClr val="E7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4848" y="2048255"/>
            <a:ext cx="2295144" cy="393192"/>
          </a:xfrm>
          <a:prstGeom prst="rect">
            <a:avLst/>
          </a:prstGeom>
          <a:noFill/>
        </p:spPr>
        <p:txBody>
          <a:bodyPr wrap="square" lIns="4572" rIns="4572" tIns="4572" bIns="457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2E241F"/>
                </a:solidFill>
                <a:latin typeface="Aptos"/>
              </a:rPr>
              <a:t>SQL text → tokens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2468880"/>
            <a:ext cx="4069080" cy="448056"/>
          </a:xfrm>
          <a:prstGeom prst="rect">
            <a:avLst/>
          </a:prstGeom>
          <a:solidFill>
            <a:srgbClr val="FBF7EF"/>
          </a:solidFill>
          <a:ln w="10160">
            <a:solidFill>
              <a:srgbClr val="E7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2496312"/>
            <a:ext cx="3941064" cy="393192"/>
          </a:xfrm>
          <a:prstGeom prst="rect">
            <a:avLst/>
          </a:prstGeom>
          <a:noFill/>
        </p:spPr>
        <p:txBody>
          <a:bodyPr wrap="square" lIns="4572" rIns="4572" tIns="4572" bIns="457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2E241F"/>
                </a:solidFill>
                <a:latin typeface="Aptos"/>
              </a:rPr>
              <a:t>Syntax analysis + AST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54880" y="2468880"/>
            <a:ext cx="1965960" cy="448056"/>
          </a:xfrm>
          <a:prstGeom prst="rect">
            <a:avLst/>
          </a:prstGeom>
          <a:solidFill>
            <a:srgbClr val="FBF7EF"/>
          </a:solidFill>
          <a:ln w="10160">
            <a:solidFill>
              <a:srgbClr val="E7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18888" y="2496312"/>
            <a:ext cx="1837943" cy="393192"/>
          </a:xfrm>
          <a:prstGeom prst="rect">
            <a:avLst/>
          </a:prstGeom>
          <a:noFill/>
        </p:spPr>
        <p:txBody>
          <a:bodyPr wrap="square" lIns="4572" rIns="4572" tIns="4572" bIns="4572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2E241F"/>
                </a:solidFill>
                <a:latin typeface="Aptos"/>
              </a:rPr>
              <a:t>0.110 ms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720840" y="2468880"/>
            <a:ext cx="2423160" cy="448056"/>
          </a:xfrm>
          <a:prstGeom prst="rect">
            <a:avLst/>
          </a:prstGeom>
          <a:solidFill>
            <a:srgbClr val="FBF7EF"/>
          </a:solidFill>
          <a:ln w="10160">
            <a:solidFill>
              <a:srgbClr val="E7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84848" y="2496312"/>
            <a:ext cx="2295144" cy="393192"/>
          </a:xfrm>
          <a:prstGeom prst="rect">
            <a:avLst/>
          </a:prstGeom>
          <a:noFill/>
        </p:spPr>
        <p:txBody>
          <a:bodyPr wrap="square" lIns="4572" rIns="4572" tIns="4572" bIns="457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2E241F"/>
                </a:solidFill>
                <a:latin typeface="Aptos"/>
              </a:rPr>
              <a:t>Tokens → AST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" y="2916936"/>
            <a:ext cx="4069080" cy="448056"/>
          </a:xfrm>
          <a:prstGeom prst="rect">
            <a:avLst/>
          </a:prstGeom>
          <a:solidFill>
            <a:srgbClr val="FFFCF7"/>
          </a:solidFill>
          <a:ln w="10160">
            <a:solidFill>
              <a:srgbClr val="E7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9808" y="2944368"/>
            <a:ext cx="3941064" cy="393192"/>
          </a:xfrm>
          <a:prstGeom prst="rect">
            <a:avLst/>
          </a:prstGeom>
          <a:noFill/>
        </p:spPr>
        <p:txBody>
          <a:bodyPr wrap="square" lIns="4572" rIns="4572" tIns="4572" bIns="457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2E241F"/>
                </a:solidFill>
                <a:latin typeface="Aptos"/>
              </a:rPr>
              <a:t>Semantic analysis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754880" y="2916936"/>
            <a:ext cx="1965960" cy="448056"/>
          </a:xfrm>
          <a:prstGeom prst="rect">
            <a:avLst/>
          </a:prstGeom>
          <a:solidFill>
            <a:srgbClr val="FFFCF7"/>
          </a:solidFill>
          <a:ln w="10160">
            <a:solidFill>
              <a:srgbClr val="E7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18888" y="2944368"/>
            <a:ext cx="1837943" cy="393192"/>
          </a:xfrm>
          <a:prstGeom prst="rect">
            <a:avLst/>
          </a:prstGeom>
          <a:noFill/>
        </p:spPr>
        <p:txBody>
          <a:bodyPr wrap="square" lIns="4572" rIns="4572" tIns="4572" bIns="4572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2E241F"/>
                </a:solidFill>
                <a:latin typeface="Aptos"/>
              </a:rPr>
              <a:t>0.029 ms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720840" y="2916936"/>
            <a:ext cx="2423160" cy="448056"/>
          </a:xfrm>
          <a:prstGeom prst="rect">
            <a:avLst/>
          </a:prstGeom>
          <a:solidFill>
            <a:srgbClr val="FFFCF7"/>
          </a:solidFill>
          <a:ln w="10160">
            <a:solidFill>
              <a:srgbClr val="E7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84848" y="2944368"/>
            <a:ext cx="2295144" cy="393192"/>
          </a:xfrm>
          <a:prstGeom prst="rect">
            <a:avLst/>
          </a:prstGeom>
          <a:noFill/>
        </p:spPr>
        <p:txBody>
          <a:bodyPr wrap="square" lIns="4572" rIns="4572" tIns="4572" bIns="457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2E241F"/>
                </a:solidFill>
                <a:latin typeface="Aptos"/>
              </a:rPr>
              <a:t>Reference validation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5800" y="3364991"/>
            <a:ext cx="4069080" cy="448056"/>
          </a:xfrm>
          <a:prstGeom prst="rect">
            <a:avLst/>
          </a:prstGeom>
          <a:solidFill>
            <a:srgbClr val="FBF7EF"/>
          </a:solidFill>
          <a:ln w="10160">
            <a:solidFill>
              <a:srgbClr val="E7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8" y="3392423"/>
            <a:ext cx="3941064" cy="393192"/>
          </a:xfrm>
          <a:prstGeom prst="rect">
            <a:avLst/>
          </a:prstGeom>
          <a:noFill/>
        </p:spPr>
        <p:txBody>
          <a:bodyPr wrap="square" lIns="4572" rIns="4572" tIns="4572" bIns="457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2E241F"/>
                </a:solidFill>
                <a:latin typeface="Aptos"/>
              </a:rPr>
              <a:t>Cost estimation + plan search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754880" y="3364991"/>
            <a:ext cx="1965960" cy="448056"/>
          </a:xfrm>
          <a:prstGeom prst="rect">
            <a:avLst/>
          </a:prstGeom>
          <a:solidFill>
            <a:srgbClr val="FBF7EF"/>
          </a:solidFill>
          <a:ln w="10160">
            <a:solidFill>
              <a:srgbClr val="E7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818888" y="3392423"/>
            <a:ext cx="1837943" cy="393192"/>
          </a:xfrm>
          <a:prstGeom prst="rect">
            <a:avLst/>
          </a:prstGeom>
          <a:noFill/>
        </p:spPr>
        <p:txBody>
          <a:bodyPr wrap="square" lIns="4572" rIns="4572" tIns="4572" bIns="4572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2E241F"/>
                </a:solidFill>
                <a:latin typeface="Aptos"/>
              </a:rPr>
              <a:t>0.907 ms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720840" y="3364991"/>
            <a:ext cx="2423160" cy="448056"/>
          </a:xfrm>
          <a:prstGeom prst="rect">
            <a:avLst/>
          </a:prstGeom>
          <a:solidFill>
            <a:srgbClr val="FBF7EF"/>
          </a:solidFill>
          <a:ln w="10160">
            <a:solidFill>
              <a:srgbClr val="E7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84848" y="3392423"/>
            <a:ext cx="2295144" cy="393192"/>
          </a:xfrm>
          <a:prstGeom prst="rect">
            <a:avLst/>
          </a:prstGeom>
          <a:noFill/>
        </p:spPr>
        <p:txBody>
          <a:bodyPr wrap="square" lIns="4572" rIns="4572" tIns="4572" bIns="457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2E241F"/>
                </a:solidFill>
                <a:latin typeface="Aptos"/>
              </a:rPr>
              <a:t>Synthetic plan ranking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85800" y="3813048"/>
            <a:ext cx="4069080" cy="448056"/>
          </a:xfrm>
          <a:prstGeom prst="rect">
            <a:avLst/>
          </a:prstGeom>
          <a:solidFill>
            <a:srgbClr val="FFFCF7"/>
          </a:solidFill>
          <a:ln w="10160">
            <a:solidFill>
              <a:srgbClr val="E7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49808" y="3840480"/>
            <a:ext cx="3941064" cy="393192"/>
          </a:xfrm>
          <a:prstGeom prst="rect">
            <a:avLst/>
          </a:prstGeom>
          <a:noFill/>
        </p:spPr>
        <p:txBody>
          <a:bodyPr wrap="square" lIns="4572" rIns="4572" tIns="4572" bIns="457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2E241F"/>
                </a:solidFill>
                <a:latin typeface="Aptos"/>
              </a:rPr>
              <a:t>SQLite execution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754880" y="3813048"/>
            <a:ext cx="1965960" cy="448056"/>
          </a:xfrm>
          <a:prstGeom prst="rect">
            <a:avLst/>
          </a:prstGeom>
          <a:solidFill>
            <a:srgbClr val="FFFCF7"/>
          </a:solidFill>
          <a:ln w="10160">
            <a:solidFill>
              <a:srgbClr val="E7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818888" y="3840480"/>
            <a:ext cx="1837943" cy="393192"/>
          </a:xfrm>
          <a:prstGeom prst="rect">
            <a:avLst/>
          </a:prstGeom>
          <a:noFill/>
        </p:spPr>
        <p:txBody>
          <a:bodyPr wrap="square" lIns="4572" rIns="4572" tIns="4572" bIns="4572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2E241F"/>
                </a:solidFill>
                <a:latin typeface="Aptos"/>
              </a:rPr>
              <a:t>0.075 ms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720840" y="3813048"/>
            <a:ext cx="2423160" cy="448056"/>
          </a:xfrm>
          <a:prstGeom prst="rect">
            <a:avLst/>
          </a:prstGeom>
          <a:solidFill>
            <a:srgbClr val="FFFCF7"/>
          </a:solidFill>
          <a:ln w="10160">
            <a:solidFill>
              <a:srgbClr val="E7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84848" y="3840480"/>
            <a:ext cx="2295144" cy="393192"/>
          </a:xfrm>
          <a:prstGeom prst="rect">
            <a:avLst/>
          </a:prstGeom>
          <a:noFill/>
        </p:spPr>
        <p:txBody>
          <a:bodyPr wrap="square" lIns="4572" rIns="4572" tIns="4572" bIns="457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2E241F"/>
                </a:solidFill>
                <a:latin typeface="Aptos"/>
              </a:rPr>
              <a:t>Execute normalized SQL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85800" y="4261104"/>
            <a:ext cx="4069080" cy="448056"/>
          </a:xfrm>
          <a:prstGeom prst="rect">
            <a:avLst/>
          </a:prstGeom>
          <a:solidFill>
            <a:srgbClr val="FBF7EF"/>
          </a:solidFill>
          <a:ln w="10160">
            <a:solidFill>
              <a:srgbClr val="E7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49808" y="4288536"/>
            <a:ext cx="3941064" cy="393192"/>
          </a:xfrm>
          <a:prstGeom prst="rect">
            <a:avLst/>
          </a:prstGeom>
          <a:noFill/>
        </p:spPr>
        <p:txBody>
          <a:bodyPr wrap="square" lIns="4572" rIns="4572" tIns="4572" bIns="457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2E241F"/>
                </a:solidFill>
                <a:latin typeface="Aptos"/>
              </a:rPr>
              <a:t>SQLite EXPLAIN QUERY PLAN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754880" y="4261104"/>
            <a:ext cx="1965960" cy="448056"/>
          </a:xfrm>
          <a:prstGeom prst="rect">
            <a:avLst/>
          </a:prstGeom>
          <a:solidFill>
            <a:srgbClr val="FBF7EF"/>
          </a:solidFill>
          <a:ln w="10160">
            <a:solidFill>
              <a:srgbClr val="E7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818888" y="4288536"/>
            <a:ext cx="1837943" cy="393192"/>
          </a:xfrm>
          <a:prstGeom prst="rect">
            <a:avLst/>
          </a:prstGeom>
          <a:noFill/>
        </p:spPr>
        <p:txBody>
          <a:bodyPr wrap="square" lIns="4572" rIns="4572" tIns="4572" bIns="4572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2E241F"/>
                </a:solidFill>
                <a:latin typeface="Aptos"/>
              </a:rPr>
              <a:t>0.036 ms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720840" y="4261104"/>
            <a:ext cx="2423160" cy="448056"/>
          </a:xfrm>
          <a:prstGeom prst="rect">
            <a:avLst/>
          </a:prstGeom>
          <a:solidFill>
            <a:srgbClr val="FBF7EF"/>
          </a:solidFill>
          <a:ln w="10160">
            <a:solidFill>
              <a:srgbClr val="E7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784848" y="4288536"/>
            <a:ext cx="2295144" cy="393192"/>
          </a:xfrm>
          <a:prstGeom prst="rect">
            <a:avLst/>
          </a:prstGeom>
          <a:noFill/>
        </p:spPr>
        <p:txBody>
          <a:bodyPr wrap="square" lIns="4572" rIns="4572" tIns="4572" bIns="457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2E241F"/>
                </a:solidFill>
                <a:latin typeface="Aptos"/>
              </a:rPr>
              <a:t>Inspect SQLite's plan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281160" y="1691640"/>
            <a:ext cx="2148840" cy="1572768"/>
          </a:xfrm>
          <a:prstGeom prst="roundRect">
            <a:avLst>
              <a:gd name="adj" fmla="val 10000"/>
            </a:avLst>
          </a:prstGeom>
          <a:solidFill>
            <a:srgbClr val="FFFCF7"/>
          </a:solidFill>
          <a:ln w="10160">
            <a:solidFill>
              <a:srgbClr val="E7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9281160" y="1691640"/>
            <a:ext cx="68580" cy="1572768"/>
          </a:xfrm>
          <a:prstGeom prst="rect">
            <a:avLst/>
          </a:prstGeom>
          <a:solidFill>
            <a:srgbClr val="E0A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464040" y="1828800"/>
            <a:ext cx="1828800" cy="32004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402219"/>
                </a:solidFill>
                <a:latin typeface="Georgia"/>
              </a:rPr>
              <a:t>Repeatable benchmark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464040" y="2212848"/>
            <a:ext cx="1828800" cy="96926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2E241F"/>
                </a:solidFill>
                <a:latin typeface="Aptos"/>
              </a:rPr>
              <a:t>Separate script: 3 warm-ups and 30 measured repetitions across four query shapes.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281160" y="3566160"/>
            <a:ext cx="2148840" cy="1508760"/>
          </a:xfrm>
          <a:prstGeom prst="roundRect">
            <a:avLst>
              <a:gd name="adj" fmla="val 10000"/>
            </a:avLst>
          </a:prstGeom>
          <a:solidFill>
            <a:srgbClr val="FFFCF7"/>
          </a:solidFill>
          <a:ln w="10160">
            <a:solidFill>
              <a:srgbClr val="E7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9281160" y="3566160"/>
            <a:ext cx="68580" cy="1508760"/>
          </a:xfrm>
          <a:prstGeom prst="rect">
            <a:avLst/>
          </a:prstGeom>
          <a:solidFill>
            <a:srgbClr val="C45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464040" y="3703320"/>
            <a:ext cx="1828800" cy="32004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402219"/>
                </a:solidFill>
                <a:latin typeface="Georgia"/>
              </a:rPr>
              <a:t>Interpretation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464040" y="4087368"/>
            <a:ext cx="1828800" cy="905255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2E241F"/>
                </a:solidFill>
                <a:latin typeface="Aptos"/>
              </a:rPr>
              <a:t>Wall-clock timings are not the same as synthetic optimizer cost units.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68680" y="5148072"/>
            <a:ext cx="7955279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30" b="1" i="0">
                <a:solidFill>
                  <a:srgbClr val="A74C40"/>
                </a:solidFill>
                <a:latin typeface="Georgia"/>
              </a:rPr>
              <a:t>Do not infer production performance from this single small-fixture run.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0881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45643"/>
                </a:solidFill>
                <a:latin typeface="Aptos"/>
              </a:rPr>
              <a:t>ERROR HANDLING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94360"/>
            <a:ext cx="1097280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402219"/>
                </a:solidFill>
                <a:latin typeface="Georgia"/>
              </a:rPr>
              <a:t>Invalid input stops at the stage that can explain it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1124712"/>
            <a:ext cx="594360" cy="50292"/>
          </a:xfrm>
          <a:prstGeom prst="rect">
            <a:avLst/>
          </a:prstGeom>
          <a:solidFill>
            <a:srgbClr val="E0A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8138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7D6A5F"/>
                </a:solidFill>
                <a:latin typeface="Aptos"/>
              </a:rPr>
              <a:t>COSTRA  •  COMPILER DESIGN LABORATORY  •  FINAL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02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>
                <a:solidFill>
                  <a:srgbClr val="7D6A5F"/>
                </a:solidFill>
                <a:latin typeface="Aptos"/>
              </a:rPr>
              <a:t>25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64208"/>
            <a:ext cx="2194560" cy="630936"/>
          </a:xfrm>
          <a:prstGeom prst="rect">
            <a:avLst/>
          </a:prstGeom>
          <a:solidFill>
            <a:srgbClr val="402219"/>
          </a:solidFill>
          <a:ln w="10160">
            <a:solidFill>
              <a:srgbClr val="E7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691640"/>
            <a:ext cx="2066543" cy="576071"/>
          </a:xfrm>
          <a:prstGeom prst="rect">
            <a:avLst/>
          </a:prstGeom>
          <a:noFill/>
        </p:spPr>
        <p:txBody>
          <a:bodyPr wrap="square" lIns="4572" rIns="4572" tIns="4572" bIns="457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70" b="1" i="0">
                <a:solidFill>
                  <a:srgbClr val="FFFCF7"/>
                </a:solidFill>
                <a:latin typeface="Aptos"/>
              </a:rPr>
              <a:t>Stage</a:t>
            </a:r>
          </a:p>
        </p:txBody>
      </p:sp>
      <p:sp>
        <p:nvSpPr>
          <p:cNvPr id="9" name="Rectangle 8"/>
          <p:cNvSpPr/>
          <p:nvPr/>
        </p:nvSpPr>
        <p:spPr>
          <a:xfrm>
            <a:off x="2926080" y="1664208"/>
            <a:ext cx="3840480" cy="630936"/>
          </a:xfrm>
          <a:prstGeom prst="rect">
            <a:avLst/>
          </a:prstGeom>
          <a:solidFill>
            <a:srgbClr val="402219"/>
          </a:solidFill>
          <a:ln w="10160">
            <a:solidFill>
              <a:srgbClr val="E7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90088" y="1691640"/>
            <a:ext cx="3712464" cy="576071"/>
          </a:xfrm>
          <a:prstGeom prst="rect">
            <a:avLst/>
          </a:prstGeom>
          <a:noFill/>
        </p:spPr>
        <p:txBody>
          <a:bodyPr wrap="square" lIns="4572" rIns="4572" tIns="4572" bIns="457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70" b="1" i="0">
                <a:solidFill>
                  <a:srgbClr val="FFFCF7"/>
                </a:solidFill>
                <a:latin typeface="Aptos"/>
              </a:rPr>
              <a:t>Example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66560" y="1664208"/>
            <a:ext cx="3931920" cy="630936"/>
          </a:xfrm>
          <a:prstGeom prst="rect">
            <a:avLst/>
          </a:prstGeom>
          <a:solidFill>
            <a:srgbClr val="402219"/>
          </a:solidFill>
          <a:ln w="10160">
            <a:solidFill>
              <a:srgbClr val="E7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30568" y="1691640"/>
            <a:ext cx="3803904" cy="576071"/>
          </a:xfrm>
          <a:prstGeom prst="rect">
            <a:avLst/>
          </a:prstGeom>
          <a:noFill/>
        </p:spPr>
        <p:txBody>
          <a:bodyPr wrap="square" lIns="4572" rIns="4572" tIns="4572" bIns="457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70" b="1" i="0">
                <a:solidFill>
                  <a:srgbClr val="FFFCF7"/>
                </a:solidFill>
                <a:latin typeface="Aptos"/>
              </a:rPr>
              <a:t>Expected behavior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295144"/>
            <a:ext cx="2194560" cy="630936"/>
          </a:xfrm>
          <a:prstGeom prst="rect">
            <a:avLst/>
          </a:prstGeom>
          <a:solidFill>
            <a:srgbClr val="FFFCF7"/>
          </a:solidFill>
          <a:ln w="10160">
            <a:solidFill>
              <a:srgbClr val="E7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8" y="2322575"/>
            <a:ext cx="2066543" cy="576071"/>
          </a:xfrm>
          <a:prstGeom prst="rect">
            <a:avLst/>
          </a:prstGeom>
          <a:noFill/>
        </p:spPr>
        <p:txBody>
          <a:bodyPr wrap="square" lIns="4572" rIns="4572" tIns="4572" bIns="457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2E241F"/>
                </a:solidFill>
                <a:latin typeface="Aptos"/>
              </a:rPr>
              <a:t>Lexical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926080" y="2295144"/>
            <a:ext cx="3840480" cy="630936"/>
          </a:xfrm>
          <a:prstGeom prst="rect">
            <a:avLst/>
          </a:prstGeom>
          <a:solidFill>
            <a:srgbClr val="FFFCF7"/>
          </a:solidFill>
          <a:ln w="10160">
            <a:solidFill>
              <a:srgbClr val="E7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90088" y="2322575"/>
            <a:ext cx="3712464" cy="576071"/>
          </a:xfrm>
          <a:prstGeom prst="rect">
            <a:avLst/>
          </a:prstGeom>
          <a:noFill/>
        </p:spPr>
        <p:txBody>
          <a:bodyPr wrap="square" lIns="4572" rIns="4572" tIns="4572" bIns="457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2E241F"/>
                </a:solidFill>
                <a:latin typeface="Aptos"/>
              </a:rPr>
              <a:t>SELECT @ FROM Employee;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66560" y="2295144"/>
            <a:ext cx="3931920" cy="630936"/>
          </a:xfrm>
          <a:prstGeom prst="rect">
            <a:avLst/>
          </a:prstGeom>
          <a:solidFill>
            <a:srgbClr val="FFFCF7"/>
          </a:solidFill>
          <a:ln w="10160">
            <a:solidFill>
              <a:srgbClr val="E7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30568" y="2322575"/>
            <a:ext cx="3803904" cy="576071"/>
          </a:xfrm>
          <a:prstGeom prst="rect">
            <a:avLst/>
          </a:prstGeom>
          <a:noFill/>
        </p:spPr>
        <p:txBody>
          <a:bodyPr wrap="square" lIns="4572" rIns="4572" tIns="4572" bIns="457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2E241F"/>
                </a:solidFill>
                <a:latin typeface="Aptos"/>
              </a:rPr>
              <a:t>Illegal character reported with location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2926080"/>
            <a:ext cx="2194560" cy="630936"/>
          </a:xfrm>
          <a:prstGeom prst="rect">
            <a:avLst/>
          </a:prstGeom>
          <a:solidFill>
            <a:srgbClr val="FBF7EF"/>
          </a:solidFill>
          <a:ln w="10160">
            <a:solidFill>
              <a:srgbClr val="E7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5528" y="2953512"/>
            <a:ext cx="2066543" cy="576071"/>
          </a:xfrm>
          <a:prstGeom prst="rect">
            <a:avLst/>
          </a:prstGeom>
          <a:noFill/>
        </p:spPr>
        <p:txBody>
          <a:bodyPr wrap="square" lIns="4572" rIns="4572" tIns="4572" bIns="457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2E241F"/>
                </a:solidFill>
                <a:latin typeface="Aptos"/>
              </a:rPr>
              <a:t>Syntax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926080" y="2926080"/>
            <a:ext cx="3840480" cy="630936"/>
          </a:xfrm>
          <a:prstGeom prst="rect">
            <a:avLst/>
          </a:prstGeom>
          <a:solidFill>
            <a:srgbClr val="FBF7EF"/>
          </a:solidFill>
          <a:ln w="10160">
            <a:solidFill>
              <a:srgbClr val="E7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990088" y="2953512"/>
            <a:ext cx="3712464" cy="576071"/>
          </a:xfrm>
          <a:prstGeom prst="rect">
            <a:avLst/>
          </a:prstGeom>
          <a:noFill/>
        </p:spPr>
        <p:txBody>
          <a:bodyPr wrap="square" lIns="4572" rIns="4572" tIns="4572" bIns="457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2E241F"/>
                </a:solidFill>
                <a:latin typeface="Aptos"/>
              </a:rPr>
              <a:t>SELECT FROM Employee;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766560" y="2926080"/>
            <a:ext cx="3931920" cy="630936"/>
          </a:xfrm>
          <a:prstGeom prst="rect">
            <a:avLst/>
          </a:prstGeom>
          <a:solidFill>
            <a:srgbClr val="FBF7EF"/>
          </a:solidFill>
          <a:ln w="10160">
            <a:solidFill>
              <a:srgbClr val="E7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30568" y="2953512"/>
            <a:ext cx="3803904" cy="576071"/>
          </a:xfrm>
          <a:prstGeom prst="rect">
            <a:avLst/>
          </a:prstGeom>
          <a:noFill/>
        </p:spPr>
        <p:txBody>
          <a:bodyPr wrap="square" lIns="4572" rIns="4572" tIns="4572" bIns="457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2E241F"/>
                </a:solidFill>
                <a:latin typeface="Aptos"/>
              </a:rPr>
              <a:t>Parser reports malformed SELECT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3557015"/>
            <a:ext cx="2194560" cy="630936"/>
          </a:xfrm>
          <a:prstGeom prst="rect">
            <a:avLst/>
          </a:prstGeom>
          <a:solidFill>
            <a:srgbClr val="FFFCF7"/>
          </a:solidFill>
          <a:ln w="10160">
            <a:solidFill>
              <a:srgbClr val="E7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5528" y="3584447"/>
            <a:ext cx="2066543" cy="576071"/>
          </a:xfrm>
          <a:prstGeom prst="rect">
            <a:avLst/>
          </a:prstGeom>
          <a:noFill/>
        </p:spPr>
        <p:txBody>
          <a:bodyPr wrap="square" lIns="4572" rIns="4572" tIns="4572" bIns="457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2E241F"/>
                </a:solidFill>
                <a:latin typeface="Aptos"/>
              </a:rPr>
              <a:t>Semantic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926080" y="3557015"/>
            <a:ext cx="3840480" cy="630936"/>
          </a:xfrm>
          <a:prstGeom prst="rect">
            <a:avLst/>
          </a:prstGeom>
          <a:solidFill>
            <a:srgbClr val="FFFCF7"/>
          </a:solidFill>
          <a:ln w="10160">
            <a:solidFill>
              <a:srgbClr val="E7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990088" y="3584447"/>
            <a:ext cx="3712464" cy="576071"/>
          </a:xfrm>
          <a:prstGeom prst="rect">
            <a:avLst/>
          </a:prstGeom>
          <a:noFill/>
        </p:spPr>
        <p:txBody>
          <a:bodyPr wrap="square" lIns="4572" rIns="4572" tIns="4572" bIns="457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2E241F"/>
                </a:solidFill>
                <a:latin typeface="Aptos"/>
              </a:rPr>
              <a:t>SELECT e.unknown_column FROM Employee e;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766560" y="3557015"/>
            <a:ext cx="3931920" cy="630936"/>
          </a:xfrm>
          <a:prstGeom prst="rect">
            <a:avLst/>
          </a:prstGeom>
          <a:solidFill>
            <a:srgbClr val="FFFCF7"/>
          </a:solidFill>
          <a:ln w="10160">
            <a:solidFill>
              <a:srgbClr val="E7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30568" y="3584447"/>
            <a:ext cx="3803904" cy="576071"/>
          </a:xfrm>
          <a:prstGeom prst="rect">
            <a:avLst/>
          </a:prstGeom>
          <a:noFill/>
        </p:spPr>
        <p:txBody>
          <a:bodyPr wrap="square" lIns="4572" rIns="4572" tIns="4572" bIns="457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2E241F"/>
                </a:solidFill>
                <a:latin typeface="Aptos"/>
              </a:rPr>
              <a:t>Unknown column rejected before execution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" y="4187952"/>
            <a:ext cx="2194560" cy="630936"/>
          </a:xfrm>
          <a:prstGeom prst="rect">
            <a:avLst/>
          </a:prstGeom>
          <a:solidFill>
            <a:srgbClr val="FBF7EF"/>
          </a:solidFill>
          <a:ln w="10160">
            <a:solidFill>
              <a:srgbClr val="E7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5528" y="4215384"/>
            <a:ext cx="2066543" cy="576071"/>
          </a:xfrm>
          <a:prstGeom prst="rect">
            <a:avLst/>
          </a:prstGeom>
          <a:noFill/>
        </p:spPr>
        <p:txBody>
          <a:bodyPr wrap="square" lIns="4572" rIns="4572" tIns="4572" bIns="457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2E241F"/>
                </a:solidFill>
                <a:latin typeface="Aptos"/>
              </a:rPr>
              <a:t>Execution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926080" y="4187952"/>
            <a:ext cx="3840480" cy="630936"/>
          </a:xfrm>
          <a:prstGeom prst="rect">
            <a:avLst/>
          </a:prstGeom>
          <a:solidFill>
            <a:srgbClr val="FBF7EF"/>
          </a:solidFill>
          <a:ln w="10160">
            <a:solidFill>
              <a:srgbClr val="E7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990088" y="4215384"/>
            <a:ext cx="3712464" cy="576071"/>
          </a:xfrm>
          <a:prstGeom prst="rect">
            <a:avLst/>
          </a:prstGeom>
          <a:noFill/>
        </p:spPr>
        <p:txBody>
          <a:bodyPr wrap="square" lIns="4572" rIns="4572" tIns="4572" bIns="457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2E241F"/>
                </a:solidFill>
                <a:latin typeface="Aptos"/>
              </a:rPr>
              <a:t>Invalid AST bypassing semantic checks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766560" y="4187952"/>
            <a:ext cx="3931920" cy="630936"/>
          </a:xfrm>
          <a:prstGeom prst="rect">
            <a:avLst/>
          </a:prstGeom>
          <a:solidFill>
            <a:srgbClr val="FBF7EF"/>
          </a:solidFill>
          <a:ln w="10160">
            <a:solidFill>
              <a:srgbClr val="E7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30568" y="4215384"/>
            <a:ext cx="3803904" cy="576071"/>
          </a:xfrm>
          <a:prstGeom prst="rect">
            <a:avLst/>
          </a:prstGeom>
          <a:noFill/>
        </p:spPr>
        <p:txBody>
          <a:bodyPr wrap="square" lIns="4572" rIns="4572" tIns="4572" bIns="457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2E241F"/>
                </a:solidFill>
                <a:latin typeface="Aptos"/>
              </a:rPr>
              <a:t>SQLite error wrapped as ExecutionError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5413248"/>
            <a:ext cx="102412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402219"/>
                </a:solidFill>
                <a:latin typeface="Georgia"/>
              </a:rPr>
              <a:t>The goal is a readable diagnostic and a safe stop, not a Python traceback for expected bad SQL.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0881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45643"/>
                </a:solidFill>
                <a:latin typeface="Aptos"/>
              </a:rPr>
              <a:t>QUALITY ASSURANCE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94360"/>
            <a:ext cx="1097280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600" b="1" i="0">
                <a:solidFill>
                  <a:srgbClr val="402219"/>
                </a:solidFill>
                <a:latin typeface="Georgia"/>
              </a:rPr>
              <a:t>52 automated regression tests pass in the checked run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1124712"/>
            <a:ext cx="594360" cy="50292"/>
          </a:xfrm>
          <a:prstGeom prst="rect">
            <a:avLst/>
          </a:prstGeom>
          <a:solidFill>
            <a:srgbClr val="E0A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8138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7D6A5F"/>
                </a:solidFill>
                <a:latin typeface="Aptos"/>
              </a:rPr>
              <a:t>COSTRA  •  COMPILER DESIGN LABORATORY  •  FINAL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02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>
                <a:solidFill>
                  <a:srgbClr val="7D6A5F"/>
                </a:solidFill>
                <a:latin typeface="Aptos"/>
              </a:rPr>
              <a:t>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600200"/>
            <a:ext cx="2514600" cy="1051560"/>
          </a:xfrm>
          <a:prstGeom prst="roundRect">
            <a:avLst>
              <a:gd name="adj" fmla="val 10000"/>
            </a:avLst>
          </a:prstGeom>
          <a:solidFill>
            <a:srgbClr val="FFFCF7"/>
          </a:solidFill>
          <a:ln w="10160">
            <a:solidFill>
              <a:srgbClr val="E7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719072"/>
            <a:ext cx="22402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800" b="1" i="0">
                <a:solidFill>
                  <a:srgbClr val="C45643"/>
                </a:solidFill>
                <a:latin typeface="Georgia"/>
              </a:rPr>
              <a:t>52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194560"/>
            <a:ext cx="2240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7D6A5F"/>
                </a:solidFill>
                <a:latin typeface="Aptos"/>
              </a:rPr>
              <a:t>tests passed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02736" y="1600200"/>
            <a:ext cx="2514600" cy="1051560"/>
          </a:xfrm>
          <a:prstGeom prst="roundRect">
            <a:avLst>
              <a:gd name="adj" fmla="val 10000"/>
            </a:avLst>
          </a:prstGeom>
          <a:solidFill>
            <a:srgbClr val="FFFCF7"/>
          </a:solidFill>
          <a:ln w="10160">
            <a:solidFill>
              <a:srgbClr val="E7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39896" y="1719072"/>
            <a:ext cx="2240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E0AA3A"/>
                </a:solidFill>
                <a:latin typeface="Georgia"/>
              </a:rPr>
              <a:t>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39896" y="2194560"/>
            <a:ext cx="2240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7D6A5F"/>
                </a:solidFill>
                <a:latin typeface="Aptos"/>
              </a:rPr>
              <a:t>candidate plans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55664" y="1600200"/>
            <a:ext cx="2514600" cy="1051560"/>
          </a:xfrm>
          <a:prstGeom prst="roundRect">
            <a:avLst>
              <a:gd name="adj" fmla="val 10000"/>
            </a:avLst>
          </a:prstGeom>
          <a:solidFill>
            <a:srgbClr val="FFFCF7"/>
          </a:solidFill>
          <a:ln w="10160">
            <a:solidFill>
              <a:srgbClr val="E7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92824" y="1719072"/>
            <a:ext cx="2240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66765B"/>
                </a:solidFill>
                <a:latin typeface="Georgia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92824" y="2194560"/>
            <a:ext cx="2240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7D6A5F"/>
                </a:solidFill>
                <a:latin typeface="Aptos"/>
              </a:rPr>
              <a:t>demo result rows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08592" y="1600200"/>
            <a:ext cx="2514600" cy="1051560"/>
          </a:xfrm>
          <a:prstGeom prst="roundRect">
            <a:avLst>
              <a:gd name="adj" fmla="val 10000"/>
            </a:avLst>
          </a:prstGeom>
          <a:solidFill>
            <a:srgbClr val="FFFCF7"/>
          </a:solidFill>
          <a:ln w="10160">
            <a:solidFill>
              <a:srgbClr val="E7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45752" y="1719072"/>
            <a:ext cx="2240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583025"/>
                </a:solidFill>
                <a:latin typeface="Georgia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45752" y="2194560"/>
            <a:ext cx="2240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7D6A5F"/>
                </a:solidFill>
                <a:latin typeface="Aptos"/>
              </a:rPr>
              <a:t>benchmark query shapes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8" y="3063240"/>
            <a:ext cx="5166360" cy="1965960"/>
          </a:xfrm>
          <a:prstGeom prst="roundRect">
            <a:avLst>
              <a:gd name="adj" fmla="val 10000"/>
            </a:avLst>
          </a:prstGeom>
          <a:solidFill>
            <a:srgbClr val="FFFCF7"/>
          </a:solidFill>
          <a:ln w="10160">
            <a:solidFill>
              <a:srgbClr val="E7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49808" y="3063240"/>
            <a:ext cx="68580" cy="1965960"/>
          </a:xfrm>
          <a:prstGeom prst="rect">
            <a:avLst/>
          </a:prstGeom>
          <a:solidFill>
            <a:srgbClr val="C45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3200400"/>
            <a:ext cx="4846320" cy="32004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402219"/>
                </a:solidFill>
                <a:latin typeface="Georgia"/>
              </a:rPr>
              <a:t>Unit / component coverage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" y="3584448"/>
            <a:ext cx="4846320" cy="1362455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30" b="0" i="0">
                <a:solidFill>
                  <a:srgbClr val="2E241F"/>
                </a:solidFill>
                <a:latin typeface="Aptos"/>
              </a:rPr>
              <a:t>Lexer: token classes, comments, quoting and locations.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30" b="0" i="0">
                <a:solidFill>
                  <a:srgbClr val="2E241F"/>
                </a:solidFill>
                <a:latin typeface="Aptos"/>
              </a:rPr>
              <a:t>Parser: clauses, precedence and predicate syntax.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30" b="0" i="0">
                <a:solidFill>
                  <a:srgbClr val="2E241F"/>
                </a:solidFill>
                <a:latin typeface="Aptos"/>
              </a:rPr>
              <a:t>Semantics: aliases, tables, columns, aggregation and grouping.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2200" y="3063240"/>
            <a:ext cx="5166360" cy="1965960"/>
          </a:xfrm>
          <a:prstGeom prst="roundRect">
            <a:avLst>
              <a:gd name="adj" fmla="val 10000"/>
            </a:avLst>
          </a:prstGeom>
          <a:solidFill>
            <a:srgbClr val="FFFCF7"/>
          </a:solidFill>
          <a:ln w="10160">
            <a:solidFill>
              <a:srgbClr val="E7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72200" y="3063240"/>
            <a:ext cx="68580" cy="1965960"/>
          </a:xfrm>
          <a:prstGeom prst="rect">
            <a:avLst/>
          </a:prstGeom>
          <a:solidFill>
            <a:srgbClr val="667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5080" y="3200400"/>
            <a:ext cx="4846320" cy="32004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402219"/>
                </a:solidFill>
                <a:latin typeface="Georgia"/>
              </a:rPr>
              <a:t>Integration coverage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3584448"/>
            <a:ext cx="4846320" cy="1362455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30" b="0" i="0">
                <a:solidFill>
                  <a:srgbClr val="2E241F"/>
                </a:solidFill>
                <a:latin typeface="Aptos"/>
              </a:rPr>
              <a:t>Optimizer: minimum-cost selection and join-order safety.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30" b="0" i="0">
                <a:solidFill>
                  <a:srgbClr val="2E241F"/>
                </a:solidFill>
                <a:latin typeface="Aptos"/>
              </a:rPr>
              <a:t>Execution: repeatable rows and SQLite plan.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30" b="0" i="0">
                <a:solidFill>
                  <a:srgbClr val="2E241F"/>
                </a:solidFill>
                <a:latin typeface="Aptos"/>
              </a:rPr>
              <a:t>CLI: complete demo, error demo and custom-query modes.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5413248"/>
            <a:ext cx="10378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402219"/>
                </a:solidFill>
                <a:latin typeface="Aptos Mono"/>
              </a:rPr>
              <a:t>Re-run on the submission machine: python3 -m unittest -v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0881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45643"/>
                </a:solidFill>
                <a:latin typeface="Aptos"/>
              </a:rPr>
              <a:t>SOURCE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94360"/>
            <a:ext cx="1097280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402219"/>
                </a:solidFill>
                <a:latin typeface="Georgia"/>
              </a:rPr>
              <a:t>Each module has a clear responsibility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1124712"/>
            <a:ext cx="594360" cy="50292"/>
          </a:xfrm>
          <a:prstGeom prst="rect">
            <a:avLst/>
          </a:prstGeom>
          <a:solidFill>
            <a:srgbClr val="E0A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8138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7D6A5F"/>
                </a:solidFill>
                <a:latin typeface="Aptos"/>
              </a:rPr>
              <a:t>COSTRA  •  COMPILER DESIGN LABORATORY  •  FINAL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02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>
                <a:solidFill>
                  <a:srgbClr val="7D6A5F"/>
                </a:solidFill>
                <a:latin typeface="Aptos"/>
              </a:rPr>
              <a:t>27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536192"/>
            <a:ext cx="2468880" cy="438912"/>
          </a:xfrm>
          <a:prstGeom prst="rect">
            <a:avLst/>
          </a:prstGeom>
          <a:solidFill>
            <a:srgbClr val="402219"/>
          </a:solidFill>
          <a:ln w="10160">
            <a:solidFill>
              <a:srgbClr val="E7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1563624"/>
            <a:ext cx="2340864" cy="384048"/>
          </a:xfrm>
          <a:prstGeom prst="rect">
            <a:avLst/>
          </a:prstGeom>
          <a:noFill/>
        </p:spPr>
        <p:txBody>
          <a:bodyPr wrap="square" lIns="4572" rIns="4572" tIns="4572" bIns="457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30" b="1" i="0">
                <a:solidFill>
                  <a:srgbClr val="FFFCF7"/>
                </a:solidFill>
                <a:latin typeface="Aptos"/>
              </a:rPr>
              <a:t>File</a:t>
            </a:r>
          </a:p>
        </p:txBody>
      </p:sp>
      <p:sp>
        <p:nvSpPr>
          <p:cNvPr id="9" name="Rectangle 8"/>
          <p:cNvSpPr/>
          <p:nvPr/>
        </p:nvSpPr>
        <p:spPr>
          <a:xfrm>
            <a:off x="3108960" y="1536192"/>
            <a:ext cx="3840480" cy="438912"/>
          </a:xfrm>
          <a:prstGeom prst="rect">
            <a:avLst/>
          </a:prstGeom>
          <a:solidFill>
            <a:srgbClr val="402219"/>
          </a:solidFill>
          <a:ln w="10160">
            <a:solidFill>
              <a:srgbClr val="E7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72968" y="1563624"/>
            <a:ext cx="3712464" cy="384048"/>
          </a:xfrm>
          <a:prstGeom prst="rect">
            <a:avLst/>
          </a:prstGeom>
          <a:noFill/>
        </p:spPr>
        <p:txBody>
          <a:bodyPr wrap="square" lIns="4572" rIns="4572" tIns="4572" bIns="457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30" b="1" i="0">
                <a:solidFill>
                  <a:srgbClr val="FFFCF7"/>
                </a:solidFill>
                <a:latin typeface="Aptos"/>
              </a:rPr>
              <a:t>Role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49440" y="1536192"/>
            <a:ext cx="3749039" cy="438912"/>
          </a:xfrm>
          <a:prstGeom prst="rect">
            <a:avLst/>
          </a:prstGeom>
          <a:solidFill>
            <a:srgbClr val="402219"/>
          </a:solidFill>
          <a:ln w="10160">
            <a:solidFill>
              <a:srgbClr val="E7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13448" y="1563624"/>
            <a:ext cx="3621023" cy="384048"/>
          </a:xfrm>
          <a:prstGeom prst="rect">
            <a:avLst/>
          </a:prstGeom>
          <a:noFill/>
        </p:spPr>
        <p:txBody>
          <a:bodyPr wrap="square" lIns="4572" rIns="4572" tIns="4572" bIns="457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30" b="1" i="0">
                <a:solidFill>
                  <a:srgbClr val="FFFCF7"/>
                </a:solidFill>
                <a:latin typeface="Aptos"/>
              </a:rPr>
              <a:t>Explain during viva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1975104"/>
            <a:ext cx="2468880" cy="438912"/>
          </a:xfrm>
          <a:prstGeom prst="rect">
            <a:avLst/>
          </a:prstGeom>
          <a:solidFill>
            <a:srgbClr val="FFFCF7"/>
          </a:solidFill>
          <a:ln w="10160">
            <a:solidFill>
              <a:srgbClr val="E7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2002536"/>
            <a:ext cx="2340864" cy="384048"/>
          </a:xfrm>
          <a:prstGeom prst="rect">
            <a:avLst/>
          </a:prstGeom>
          <a:noFill/>
        </p:spPr>
        <p:txBody>
          <a:bodyPr wrap="square" lIns="4572" rIns="4572" tIns="4572" bIns="457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2E241F"/>
                </a:solidFill>
                <a:latin typeface="Aptos"/>
              </a:rPr>
              <a:t>lexer.py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08960" y="1975104"/>
            <a:ext cx="3840480" cy="438912"/>
          </a:xfrm>
          <a:prstGeom prst="rect">
            <a:avLst/>
          </a:prstGeom>
          <a:solidFill>
            <a:srgbClr val="FFFCF7"/>
          </a:solidFill>
          <a:ln w="10160">
            <a:solidFill>
              <a:srgbClr val="E7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72968" y="2002536"/>
            <a:ext cx="3712464" cy="384048"/>
          </a:xfrm>
          <a:prstGeom prst="rect">
            <a:avLst/>
          </a:prstGeom>
          <a:noFill/>
        </p:spPr>
        <p:txBody>
          <a:bodyPr wrap="square" lIns="4572" rIns="4572" tIns="4572" bIns="457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2E241F"/>
                </a:solidFill>
                <a:latin typeface="Aptos"/>
              </a:rPr>
              <a:t>Characters → tokens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49440" y="1975104"/>
            <a:ext cx="3749039" cy="438912"/>
          </a:xfrm>
          <a:prstGeom prst="rect">
            <a:avLst/>
          </a:prstGeom>
          <a:solidFill>
            <a:srgbClr val="FFFCF7"/>
          </a:solidFill>
          <a:ln w="10160">
            <a:solidFill>
              <a:srgbClr val="E7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13448" y="2002536"/>
            <a:ext cx="3621023" cy="384048"/>
          </a:xfrm>
          <a:prstGeom prst="rect">
            <a:avLst/>
          </a:prstGeom>
          <a:noFill/>
        </p:spPr>
        <p:txBody>
          <a:bodyPr wrap="square" lIns="4572" rIns="4572" tIns="4572" bIns="457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2E241F"/>
                </a:solidFill>
                <a:latin typeface="Aptos"/>
              </a:rPr>
              <a:t>token kinds and source locations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2414015"/>
            <a:ext cx="2468880" cy="438912"/>
          </a:xfrm>
          <a:prstGeom prst="rect">
            <a:avLst/>
          </a:prstGeom>
          <a:solidFill>
            <a:srgbClr val="FBF7EF"/>
          </a:solidFill>
          <a:ln w="10160">
            <a:solidFill>
              <a:srgbClr val="E7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4088" y="2441447"/>
            <a:ext cx="2340864" cy="384048"/>
          </a:xfrm>
          <a:prstGeom prst="rect">
            <a:avLst/>
          </a:prstGeom>
          <a:noFill/>
        </p:spPr>
        <p:txBody>
          <a:bodyPr wrap="square" lIns="4572" rIns="4572" tIns="4572" bIns="457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2E241F"/>
                </a:solidFill>
                <a:latin typeface="Aptos"/>
              </a:rPr>
              <a:t>parser.py / ast_nodes.py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108960" y="2414015"/>
            <a:ext cx="3840480" cy="438912"/>
          </a:xfrm>
          <a:prstGeom prst="rect">
            <a:avLst/>
          </a:prstGeom>
          <a:solidFill>
            <a:srgbClr val="FBF7EF"/>
          </a:solidFill>
          <a:ln w="10160">
            <a:solidFill>
              <a:srgbClr val="E7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172968" y="2441447"/>
            <a:ext cx="3712464" cy="384048"/>
          </a:xfrm>
          <a:prstGeom prst="rect">
            <a:avLst/>
          </a:prstGeom>
          <a:noFill/>
        </p:spPr>
        <p:txBody>
          <a:bodyPr wrap="square" lIns="4572" rIns="4572" tIns="4572" bIns="457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2E241F"/>
                </a:solidFill>
                <a:latin typeface="Aptos"/>
              </a:rPr>
              <a:t>SQL grammar → AST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949440" y="2414015"/>
            <a:ext cx="3749039" cy="438912"/>
          </a:xfrm>
          <a:prstGeom prst="rect">
            <a:avLst/>
          </a:prstGeom>
          <a:solidFill>
            <a:srgbClr val="FBF7EF"/>
          </a:solidFill>
          <a:ln w="10160">
            <a:solidFill>
              <a:srgbClr val="E7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13448" y="2441447"/>
            <a:ext cx="3621023" cy="384048"/>
          </a:xfrm>
          <a:prstGeom prst="rect">
            <a:avLst/>
          </a:prstGeom>
          <a:noFill/>
        </p:spPr>
        <p:txBody>
          <a:bodyPr wrap="square" lIns="4572" rIns="4572" tIns="4572" bIns="457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2E241F"/>
                </a:solidFill>
                <a:latin typeface="Aptos"/>
              </a:rPr>
              <a:t>recursive descent / precedence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2852928"/>
            <a:ext cx="2468880" cy="438912"/>
          </a:xfrm>
          <a:prstGeom prst="rect">
            <a:avLst/>
          </a:prstGeom>
          <a:solidFill>
            <a:srgbClr val="FFFCF7"/>
          </a:solidFill>
          <a:ln w="10160">
            <a:solidFill>
              <a:srgbClr val="E7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4088" y="2880360"/>
            <a:ext cx="2340864" cy="384048"/>
          </a:xfrm>
          <a:prstGeom prst="rect">
            <a:avLst/>
          </a:prstGeom>
          <a:noFill/>
        </p:spPr>
        <p:txBody>
          <a:bodyPr wrap="square" lIns="4572" rIns="4572" tIns="4572" bIns="457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2E241F"/>
                </a:solidFill>
                <a:latin typeface="Aptos"/>
              </a:rPr>
              <a:t>semantic.py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108960" y="2852928"/>
            <a:ext cx="3840480" cy="438912"/>
          </a:xfrm>
          <a:prstGeom prst="rect">
            <a:avLst/>
          </a:prstGeom>
          <a:solidFill>
            <a:srgbClr val="FFFCF7"/>
          </a:solidFill>
          <a:ln w="10160">
            <a:solidFill>
              <a:srgbClr val="E7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172968" y="2880360"/>
            <a:ext cx="3712464" cy="384048"/>
          </a:xfrm>
          <a:prstGeom prst="rect">
            <a:avLst/>
          </a:prstGeom>
          <a:noFill/>
        </p:spPr>
        <p:txBody>
          <a:bodyPr wrap="square" lIns="4572" rIns="4572" tIns="4572" bIns="457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2E241F"/>
                </a:solidFill>
                <a:latin typeface="Aptos"/>
              </a:rPr>
              <a:t>Name and query checks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949440" y="2852928"/>
            <a:ext cx="3749039" cy="438912"/>
          </a:xfrm>
          <a:prstGeom prst="rect">
            <a:avLst/>
          </a:prstGeom>
          <a:solidFill>
            <a:srgbClr val="FFFCF7"/>
          </a:solidFill>
          <a:ln w="10160">
            <a:solidFill>
              <a:srgbClr val="E7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13448" y="2880360"/>
            <a:ext cx="3621023" cy="384048"/>
          </a:xfrm>
          <a:prstGeom prst="rect">
            <a:avLst/>
          </a:prstGeom>
          <a:noFill/>
        </p:spPr>
        <p:txBody>
          <a:bodyPr wrap="square" lIns="4572" rIns="4572" tIns="4572" bIns="457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2E241F"/>
                </a:solidFill>
                <a:latin typeface="Aptos"/>
              </a:rPr>
              <a:t>aliases, unknown/ambiguous columns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3291839"/>
            <a:ext cx="2468880" cy="438912"/>
          </a:xfrm>
          <a:prstGeom prst="rect">
            <a:avLst/>
          </a:prstGeom>
          <a:solidFill>
            <a:srgbClr val="FBF7EF"/>
          </a:solidFill>
          <a:ln w="10160">
            <a:solidFill>
              <a:srgbClr val="E7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04088" y="3319271"/>
            <a:ext cx="2340864" cy="384048"/>
          </a:xfrm>
          <a:prstGeom prst="rect">
            <a:avLst/>
          </a:prstGeom>
          <a:noFill/>
        </p:spPr>
        <p:txBody>
          <a:bodyPr wrap="square" lIns="4572" rIns="4572" tIns="4572" bIns="457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2E241F"/>
                </a:solidFill>
                <a:latin typeface="Aptos"/>
              </a:rPr>
              <a:t>ir.py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108960" y="3291839"/>
            <a:ext cx="3840480" cy="438912"/>
          </a:xfrm>
          <a:prstGeom prst="rect">
            <a:avLst/>
          </a:prstGeom>
          <a:solidFill>
            <a:srgbClr val="FBF7EF"/>
          </a:solidFill>
          <a:ln w="10160">
            <a:solidFill>
              <a:srgbClr val="E7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172968" y="3319271"/>
            <a:ext cx="3712464" cy="384048"/>
          </a:xfrm>
          <a:prstGeom prst="rect">
            <a:avLst/>
          </a:prstGeom>
          <a:noFill/>
        </p:spPr>
        <p:txBody>
          <a:bodyPr wrap="square" lIns="4572" rIns="4572" tIns="4572" bIns="457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2E241F"/>
                </a:solidFill>
                <a:latin typeface="Aptos"/>
              </a:rPr>
              <a:t>Logical operator tree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949440" y="3291839"/>
            <a:ext cx="3749039" cy="438912"/>
          </a:xfrm>
          <a:prstGeom prst="rect">
            <a:avLst/>
          </a:prstGeom>
          <a:solidFill>
            <a:srgbClr val="FBF7EF"/>
          </a:solidFill>
          <a:ln w="10160">
            <a:solidFill>
              <a:srgbClr val="E7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013448" y="3319271"/>
            <a:ext cx="3621023" cy="384048"/>
          </a:xfrm>
          <a:prstGeom prst="rect">
            <a:avLst/>
          </a:prstGeom>
          <a:noFill/>
        </p:spPr>
        <p:txBody>
          <a:bodyPr wrap="square" lIns="4572" rIns="4572" tIns="4572" bIns="457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2E241F"/>
                </a:solidFill>
                <a:latin typeface="Aptos"/>
              </a:rPr>
              <a:t>scan, join, filter, aggregate, sort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3730752"/>
            <a:ext cx="2468880" cy="438912"/>
          </a:xfrm>
          <a:prstGeom prst="rect">
            <a:avLst/>
          </a:prstGeom>
          <a:solidFill>
            <a:srgbClr val="FFFCF7"/>
          </a:solidFill>
          <a:ln w="10160">
            <a:solidFill>
              <a:srgbClr val="E7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04088" y="3758184"/>
            <a:ext cx="2340864" cy="384048"/>
          </a:xfrm>
          <a:prstGeom prst="rect">
            <a:avLst/>
          </a:prstGeom>
          <a:noFill/>
        </p:spPr>
        <p:txBody>
          <a:bodyPr wrap="square" lIns="4572" rIns="4572" tIns="4572" bIns="457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2E241F"/>
                </a:solidFill>
                <a:latin typeface="Aptos"/>
              </a:rPr>
              <a:t>schema.py / statistics.py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108960" y="3730752"/>
            <a:ext cx="3840480" cy="438912"/>
          </a:xfrm>
          <a:prstGeom prst="rect">
            <a:avLst/>
          </a:prstGeom>
          <a:solidFill>
            <a:srgbClr val="FFFCF7"/>
          </a:solidFill>
          <a:ln w="10160">
            <a:solidFill>
              <a:srgbClr val="E7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172968" y="3758184"/>
            <a:ext cx="3712464" cy="384048"/>
          </a:xfrm>
          <a:prstGeom prst="rect">
            <a:avLst/>
          </a:prstGeom>
          <a:noFill/>
        </p:spPr>
        <p:txBody>
          <a:bodyPr wrap="square" lIns="4572" rIns="4572" tIns="4572" bIns="457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2E241F"/>
                </a:solidFill>
                <a:latin typeface="Aptos"/>
              </a:rPr>
              <a:t>Synthetic metadata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949440" y="3730752"/>
            <a:ext cx="3749039" cy="438912"/>
          </a:xfrm>
          <a:prstGeom prst="rect">
            <a:avLst/>
          </a:prstGeom>
          <a:solidFill>
            <a:srgbClr val="FFFCF7"/>
          </a:solidFill>
          <a:ln w="10160">
            <a:solidFill>
              <a:srgbClr val="E7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013448" y="3758184"/>
            <a:ext cx="3621023" cy="384048"/>
          </a:xfrm>
          <a:prstGeom prst="rect">
            <a:avLst/>
          </a:prstGeom>
          <a:noFill/>
        </p:spPr>
        <p:txBody>
          <a:bodyPr wrap="square" lIns="4572" rIns="4572" tIns="4572" bIns="457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2E241F"/>
                </a:solidFill>
                <a:latin typeface="Aptos"/>
              </a:rPr>
              <a:t>row counts and selectivity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0080" y="4169663"/>
            <a:ext cx="2468880" cy="438912"/>
          </a:xfrm>
          <a:prstGeom prst="rect">
            <a:avLst/>
          </a:prstGeom>
          <a:solidFill>
            <a:srgbClr val="FBF7EF"/>
          </a:solidFill>
          <a:ln w="10160">
            <a:solidFill>
              <a:srgbClr val="E7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04088" y="4197096"/>
            <a:ext cx="2340864" cy="384048"/>
          </a:xfrm>
          <a:prstGeom prst="rect">
            <a:avLst/>
          </a:prstGeom>
          <a:noFill/>
        </p:spPr>
        <p:txBody>
          <a:bodyPr wrap="square" lIns="4572" rIns="4572" tIns="4572" bIns="457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2E241F"/>
                </a:solidFill>
                <a:latin typeface="Aptos"/>
              </a:rPr>
              <a:t>optimizer.py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108960" y="4169663"/>
            <a:ext cx="3840480" cy="438912"/>
          </a:xfrm>
          <a:prstGeom prst="rect">
            <a:avLst/>
          </a:prstGeom>
          <a:solidFill>
            <a:srgbClr val="FBF7EF"/>
          </a:solidFill>
          <a:ln w="10160">
            <a:solidFill>
              <a:srgbClr val="E7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172968" y="4197096"/>
            <a:ext cx="3712464" cy="384048"/>
          </a:xfrm>
          <a:prstGeom prst="rect">
            <a:avLst/>
          </a:prstGeom>
          <a:noFill/>
        </p:spPr>
        <p:txBody>
          <a:bodyPr wrap="square" lIns="4572" rIns="4572" tIns="4572" bIns="457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2E241F"/>
                </a:solidFill>
                <a:latin typeface="Aptos"/>
              </a:rPr>
              <a:t>Candidate estimates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949440" y="4169663"/>
            <a:ext cx="3749039" cy="438912"/>
          </a:xfrm>
          <a:prstGeom prst="rect">
            <a:avLst/>
          </a:prstGeom>
          <a:solidFill>
            <a:srgbClr val="FBF7EF"/>
          </a:solidFill>
          <a:ln w="10160">
            <a:solidFill>
              <a:srgbClr val="E7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013448" y="4197096"/>
            <a:ext cx="3621023" cy="384048"/>
          </a:xfrm>
          <a:prstGeom prst="rect">
            <a:avLst/>
          </a:prstGeom>
          <a:noFill/>
        </p:spPr>
        <p:txBody>
          <a:bodyPr wrap="square" lIns="4572" rIns="4572" tIns="4572" bIns="457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2E241F"/>
                </a:solidFill>
                <a:latin typeface="Aptos"/>
              </a:rPr>
              <a:t>paths, joins, cost ranking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40080" y="4608576"/>
            <a:ext cx="2468880" cy="438912"/>
          </a:xfrm>
          <a:prstGeom prst="rect">
            <a:avLst/>
          </a:prstGeom>
          <a:solidFill>
            <a:srgbClr val="FFFCF7"/>
          </a:solidFill>
          <a:ln w="10160">
            <a:solidFill>
              <a:srgbClr val="E7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04088" y="4636008"/>
            <a:ext cx="2340864" cy="384048"/>
          </a:xfrm>
          <a:prstGeom prst="rect">
            <a:avLst/>
          </a:prstGeom>
          <a:noFill/>
        </p:spPr>
        <p:txBody>
          <a:bodyPr wrap="square" lIns="4572" rIns="4572" tIns="4572" bIns="457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2E241F"/>
                </a:solidFill>
                <a:latin typeface="Aptos"/>
              </a:rPr>
              <a:t>executor.py / compiler.py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108960" y="4608576"/>
            <a:ext cx="3840480" cy="438912"/>
          </a:xfrm>
          <a:prstGeom prst="rect">
            <a:avLst/>
          </a:prstGeom>
          <a:solidFill>
            <a:srgbClr val="FFFCF7"/>
          </a:solidFill>
          <a:ln w="10160">
            <a:solidFill>
              <a:srgbClr val="E7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172968" y="4636008"/>
            <a:ext cx="3712464" cy="384048"/>
          </a:xfrm>
          <a:prstGeom prst="rect">
            <a:avLst/>
          </a:prstGeom>
          <a:noFill/>
        </p:spPr>
        <p:txBody>
          <a:bodyPr wrap="square" lIns="4572" rIns="4572" tIns="4572" bIns="457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2E241F"/>
                </a:solidFill>
                <a:latin typeface="Aptos"/>
              </a:rPr>
              <a:t>Orchestration + SQLite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949440" y="4608576"/>
            <a:ext cx="3749039" cy="438912"/>
          </a:xfrm>
          <a:prstGeom prst="rect">
            <a:avLst/>
          </a:prstGeom>
          <a:solidFill>
            <a:srgbClr val="FFFCF7"/>
          </a:solidFill>
          <a:ln w="10160">
            <a:solidFill>
              <a:srgbClr val="E7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013448" y="4636008"/>
            <a:ext cx="3621023" cy="384048"/>
          </a:xfrm>
          <a:prstGeom prst="rect">
            <a:avLst/>
          </a:prstGeom>
          <a:noFill/>
        </p:spPr>
        <p:txBody>
          <a:bodyPr wrap="square" lIns="4572" rIns="4572" tIns="4572" bIns="457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2E241F"/>
                </a:solidFill>
                <a:latin typeface="Aptos"/>
              </a:rPr>
              <a:t>fail-fast pipeline and result plan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40080" y="5047488"/>
            <a:ext cx="2468880" cy="438912"/>
          </a:xfrm>
          <a:prstGeom prst="rect">
            <a:avLst/>
          </a:prstGeom>
          <a:solidFill>
            <a:srgbClr val="FBF7EF"/>
          </a:solidFill>
          <a:ln w="10160">
            <a:solidFill>
              <a:srgbClr val="E7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04088" y="5074920"/>
            <a:ext cx="2340864" cy="384048"/>
          </a:xfrm>
          <a:prstGeom prst="rect">
            <a:avLst/>
          </a:prstGeom>
          <a:noFill/>
        </p:spPr>
        <p:txBody>
          <a:bodyPr wrap="square" lIns="4572" rIns="4572" tIns="4572" bIns="457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2E241F"/>
                </a:solidFill>
                <a:latin typeface="Aptos"/>
              </a:rPr>
              <a:t>main.py / test_costra.py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108960" y="5047488"/>
            <a:ext cx="3840480" cy="438912"/>
          </a:xfrm>
          <a:prstGeom prst="rect">
            <a:avLst/>
          </a:prstGeom>
          <a:solidFill>
            <a:srgbClr val="FBF7EF"/>
          </a:solidFill>
          <a:ln w="10160">
            <a:solidFill>
              <a:srgbClr val="E7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172968" y="5074920"/>
            <a:ext cx="3712464" cy="384048"/>
          </a:xfrm>
          <a:prstGeom prst="rect">
            <a:avLst/>
          </a:prstGeom>
          <a:noFill/>
        </p:spPr>
        <p:txBody>
          <a:bodyPr wrap="square" lIns="4572" rIns="4572" tIns="4572" bIns="457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2E241F"/>
                </a:solidFill>
                <a:latin typeface="Aptos"/>
              </a:rPr>
              <a:t>Demo CLI + tests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949440" y="5047488"/>
            <a:ext cx="3749039" cy="438912"/>
          </a:xfrm>
          <a:prstGeom prst="rect">
            <a:avLst/>
          </a:prstGeom>
          <a:solidFill>
            <a:srgbClr val="FBF7EF"/>
          </a:solidFill>
          <a:ln w="10160">
            <a:solidFill>
              <a:srgbClr val="E7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013448" y="5074920"/>
            <a:ext cx="3621023" cy="384048"/>
          </a:xfrm>
          <a:prstGeom prst="rect">
            <a:avLst/>
          </a:prstGeom>
          <a:noFill/>
        </p:spPr>
        <p:txBody>
          <a:bodyPr wrap="square" lIns="4572" rIns="4572" tIns="4572" bIns="457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2E241F"/>
                </a:solidFill>
                <a:latin typeface="Aptos"/>
              </a:rPr>
              <a:t>reproducible demo and regression checks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0881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50" b="1" i="0">
                <a:solidFill>
                  <a:srgbClr val="C45643"/>
                </a:solidFill>
                <a:latin typeface="Aptos"/>
              </a:rPr>
              <a:t>INTERACTIVE DEMO MENU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94360"/>
            <a:ext cx="1097280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600" b="1" i="0">
                <a:solidFill>
                  <a:srgbClr val="402219"/>
                </a:solidFill>
                <a:latin typeface="Georgia"/>
              </a:rPr>
              <a:t>Run once, then choose what your professor asks to see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1124712"/>
            <a:ext cx="594360" cy="50292"/>
          </a:xfrm>
          <a:prstGeom prst="rect">
            <a:avLst/>
          </a:prstGeom>
          <a:solidFill>
            <a:srgbClr val="E0A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8138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7D6A5F"/>
                </a:solidFill>
                <a:latin typeface="Aptos"/>
              </a:rPr>
              <a:t>COSTRA  •  COMPILER DESIGN LABORATORY  •  FINAL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02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>
                <a:solidFill>
                  <a:srgbClr val="7D6A5F"/>
                </a:solidFill>
                <a:latin typeface="Aptos"/>
              </a:rPr>
              <a:t>28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81912"/>
            <a:ext cx="6675120" cy="914400"/>
          </a:xfrm>
          <a:prstGeom prst="roundRect">
            <a:avLst>
              <a:gd name="adj" fmla="val 10000"/>
            </a:avLst>
          </a:prstGeom>
          <a:solidFill>
            <a:srgbClr val="211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673352"/>
            <a:ext cx="63642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850" b="1" i="0">
                <a:solidFill>
                  <a:srgbClr val="E0AA3A"/>
                </a:solidFill>
                <a:latin typeface="Aptos"/>
              </a:rPr>
              <a:t>OPEN THE SWITCH-STYLE MENU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1901952"/>
            <a:ext cx="6345936" cy="52120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r>
              <a:rPr sz="1900" b="0" i="0">
                <a:solidFill>
                  <a:srgbClr val="F9F0E4"/>
                </a:solidFill>
                <a:latin typeface="Aptos Mono"/>
              </a:rPr>
              <a:t>python3 main.py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743200"/>
            <a:ext cx="6675120" cy="1097280"/>
          </a:xfrm>
          <a:prstGeom prst="roundRect">
            <a:avLst>
              <a:gd name="adj" fmla="val 10000"/>
            </a:avLst>
          </a:prstGeom>
          <a:solidFill>
            <a:srgbClr val="211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2834640"/>
            <a:ext cx="63642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850" b="1" i="0">
                <a:solidFill>
                  <a:srgbClr val="E0AA3A"/>
                </a:solidFill>
                <a:latin typeface="Aptos"/>
              </a:rPr>
              <a:t>MENU OPTIONS / 1–4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3054096"/>
            <a:ext cx="6345936" cy="694944"/>
          </a:xfrm>
          <a:prstGeom prst="rect">
            <a:avLst/>
          </a:prstGeom>
          <a:noFill/>
        </p:spPr>
        <p:txBody>
          <a:bodyPr wrap="square" lIns="13716" rIns="13716" tIns="9144" bIns="9144" anchor="t">
            <a:sp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F9F0E4"/>
                </a:solidFill>
                <a:latin typeface="Aptos Mono"/>
              </a:rPr>
              <a:t>1. Review 1 — problem &amp; design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F9F0E4"/>
                </a:solidFill>
                <a:latin typeface="Aptos Mono"/>
              </a:rPr>
              <a:t>2. Review 2 — core compiler modules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F9F0E4"/>
                </a:solidFill>
                <a:latin typeface="Aptos Mono"/>
              </a:rPr>
              <a:t>3. Review 3 — complete pipeline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F9F0E4"/>
                </a:solidFill>
                <a:latin typeface="Aptos Mono"/>
              </a:rPr>
              <a:t>4. Enter a custom SELECT query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913632"/>
            <a:ext cx="6675120" cy="1078992"/>
          </a:xfrm>
          <a:prstGeom prst="roundRect">
            <a:avLst>
              <a:gd name="adj" fmla="val 10000"/>
            </a:avLst>
          </a:prstGeom>
          <a:solidFill>
            <a:srgbClr val="211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4023360"/>
            <a:ext cx="63642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850" b="1" i="0">
                <a:solidFill>
                  <a:srgbClr val="E0AA3A"/>
                </a:solidFill>
                <a:latin typeface="Aptos"/>
              </a:rPr>
              <a:t>MENU OPTIONS / 5–8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4251960"/>
            <a:ext cx="6345936" cy="676656"/>
          </a:xfrm>
          <a:prstGeom prst="rect">
            <a:avLst/>
          </a:prstGeom>
          <a:noFill/>
        </p:spPr>
        <p:txBody>
          <a:bodyPr wrap="square" lIns="13716" rIns="13716" tIns="9144" bIns="9144" anchor="t">
            <a:sp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F9F0E4"/>
                </a:solidFill>
                <a:latin typeface="Aptos Mono"/>
              </a:rPr>
              <a:t>5. Cost formula + lowest-cost plan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F9F0E4"/>
                </a:solidFill>
                <a:latin typeface="Aptos Mono"/>
              </a:rPr>
              <a:t>6. Review 1 → Review 2 → Review 3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F9F0E4"/>
                </a:solidFill>
                <a:latin typeface="Aptos Mono"/>
              </a:rPr>
              <a:t>7. Semantic-error demonstration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F9F0E4"/>
                </a:solidFill>
                <a:latin typeface="Aptos Mono"/>
              </a:rPr>
              <a:t>8. Exit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084064"/>
            <a:ext cx="6675120" cy="1005840"/>
          </a:xfrm>
          <a:prstGeom prst="roundRect">
            <a:avLst>
              <a:gd name="adj" fmla="val 10000"/>
            </a:avLst>
          </a:prstGeom>
          <a:solidFill>
            <a:srgbClr val="211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6968" y="5193792"/>
            <a:ext cx="63642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850" b="1" i="0">
                <a:solidFill>
                  <a:srgbClr val="E0AA3A"/>
                </a:solidFill>
                <a:latin typeface="Aptos"/>
              </a:rPr>
              <a:t>DIRECT COMMAND-LINE SHORTCUTS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5404104"/>
            <a:ext cx="6345936" cy="530352"/>
          </a:xfrm>
          <a:prstGeom prst="rect">
            <a:avLst/>
          </a:prstGeom>
          <a:noFill/>
        </p:spPr>
        <p:txBody>
          <a:bodyPr wrap="square" lIns="13716" rIns="13716" tIns="9144" bIns="9144" anchor="t">
            <a:spAutoFit/>
          </a:bodyPr>
          <a:lstStyle/>
          <a:p>
            <a:pPr>
              <a:lnSpc>
                <a:spcPts val="103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F9F0E4"/>
                </a:solidFill>
                <a:latin typeface="Aptos Mono"/>
              </a:rPr>
              <a:t>--review1-demo  |  --review2-demo</a:t>
            </a:r>
          </a:p>
          <a:p>
            <a:pPr>
              <a:lnSpc>
                <a:spcPts val="103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F9F0E4"/>
                </a:solidFill>
                <a:latin typeface="Aptos Mono"/>
              </a:rPr>
              <a:t>--cost-demo  |  --progress-demo</a:t>
            </a:r>
          </a:p>
          <a:p>
            <a:pPr>
              <a:lnSpc>
                <a:spcPts val="103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F9F0E4"/>
                </a:solidFill>
                <a:latin typeface="Aptos Mono"/>
              </a:rPr>
              <a:t>--demo  |  --error-demo  |  --query "SELECT ..."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818120" y="1783080"/>
            <a:ext cx="3566160" cy="1207008"/>
          </a:xfrm>
          <a:prstGeom prst="roundRect">
            <a:avLst>
              <a:gd name="adj" fmla="val 10000"/>
            </a:avLst>
          </a:prstGeom>
          <a:solidFill>
            <a:srgbClr val="FFFCF7"/>
          </a:solidFill>
          <a:ln w="10160">
            <a:solidFill>
              <a:srgbClr val="E7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818120" y="1783080"/>
            <a:ext cx="68580" cy="1207008"/>
          </a:xfrm>
          <a:prstGeom prst="rect">
            <a:avLst/>
          </a:prstGeom>
          <a:solidFill>
            <a:srgbClr val="667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01000" y="1920240"/>
            <a:ext cx="3246120" cy="32004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r>
              <a:rPr sz="1500" b="1" i="0">
                <a:solidFill>
                  <a:srgbClr val="402219"/>
                </a:solidFill>
                <a:latin typeface="Georgia"/>
              </a:rPr>
              <a:t>Professor chooses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01000" y="2304288"/>
            <a:ext cx="3246120" cy="60350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r>
              <a:rPr sz="1200" b="0" i="0">
                <a:solidFill>
                  <a:srgbClr val="2E241F"/>
                </a:solidFill>
                <a:latin typeface="Aptos"/>
              </a:rPr>
              <a:t>Enter a number from 1 to 8. After the walkthrough, COSTRA returns to the menu.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818120" y="3246120"/>
            <a:ext cx="3566160" cy="1207008"/>
          </a:xfrm>
          <a:prstGeom prst="roundRect">
            <a:avLst>
              <a:gd name="adj" fmla="val 10000"/>
            </a:avLst>
          </a:prstGeom>
          <a:solidFill>
            <a:srgbClr val="FFFCF7"/>
          </a:solidFill>
          <a:ln w="10160">
            <a:solidFill>
              <a:srgbClr val="E7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818120" y="3246120"/>
            <a:ext cx="68580" cy="1207008"/>
          </a:xfrm>
          <a:prstGeom prst="rect">
            <a:avLst/>
          </a:prstGeom>
          <a:solidFill>
            <a:srgbClr val="E0A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01000" y="3383279"/>
            <a:ext cx="3246120" cy="32004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r>
              <a:rPr sz="1500" b="1" i="0">
                <a:solidFill>
                  <a:srgbClr val="402219"/>
                </a:solidFill>
                <a:latin typeface="Georgia"/>
              </a:rPr>
              <a:t>Cost and best plan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01000" y="3767328"/>
            <a:ext cx="3246120" cy="60350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r>
              <a:rPr sz="1200" b="0" i="0">
                <a:solidFill>
                  <a:srgbClr val="2E241F"/>
                </a:solidFill>
                <a:latin typeface="Aptos"/>
              </a:rPr>
              <a:t>Option 5 prints the formulas, compares six candidates and identifies the minimum estimate.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818120" y="4709160"/>
            <a:ext cx="3566160" cy="1207008"/>
          </a:xfrm>
          <a:prstGeom prst="roundRect">
            <a:avLst>
              <a:gd name="adj" fmla="val 10000"/>
            </a:avLst>
          </a:prstGeom>
          <a:solidFill>
            <a:srgbClr val="FFFCF7"/>
          </a:solidFill>
          <a:ln w="10160">
            <a:solidFill>
              <a:srgbClr val="E7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818120" y="4709160"/>
            <a:ext cx="68580" cy="1207008"/>
          </a:xfrm>
          <a:prstGeom prst="rect">
            <a:avLst/>
          </a:prstGeom>
          <a:solidFill>
            <a:srgbClr val="C45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01000" y="4846320"/>
            <a:ext cx="3246120" cy="32004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r>
              <a:rPr sz="1500" b="1" i="0">
                <a:solidFill>
                  <a:srgbClr val="402219"/>
                </a:solidFill>
                <a:latin typeface="Georgia"/>
              </a:rPr>
              <a:t>Custom SQL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01000" y="5230368"/>
            <a:ext cx="3246120" cy="60350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r>
              <a:rPr sz="1200" b="0" i="0">
                <a:solidFill>
                  <a:srgbClr val="2E241F"/>
                </a:solidFill>
                <a:latin typeface="Aptos"/>
              </a:rPr>
              <a:t>Option 4 accepts your SELECT statement at the SQL&gt; prompt on one line.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0881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50" b="1" i="0">
                <a:solidFill>
                  <a:srgbClr val="C45643"/>
                </a:solidFill>
                <a:latin typeface="Aptos"/>
              </a:rPr>
              <a:t>RECOMMENDED LIVE DEMO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94360"/>
            <a:ext cx="1097280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600" b="1" i="0">
                <a:solidFill>
                  <a:srgbClr val="402219"/>
                </a:solidFill>
                <a:latin typeface="Georgia"/>
              </a:rPr>
              <a:t>Choose the path that matches the professor’s question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1124712"/>
            <a:ext cx="594360" cy="50292"/>
          </a:xfrm>
          <a:prstGeom prst="rect">
            <a:avLst/>
          </a:prstGeom>
          <a:solidFill>
            <a:srgbClr val="E0A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8138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850" b="1" i="0">
                <a:solidFill>
                  <a:srgbClr val="7D6A5F"/>
                </a:solidFill>
                <a:latin typeface="Aptos"/>
              </a:rPr>
              <a:t>FINAL MENU OPTIONS: 7 = semantic error demo  •  8 = exit  •  Run python3 -m unittest -v to verify all 52 tests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02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>
                <a:solidFill>
                  <a:srgbClr val="7D6A5F"/>
                </a:solidFill>
                <a:latin typeface="Aptos"/>
              </a:rPr>
              <a:t>29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481328"/>
            <a:ext cx="5166360" cy="1143000"/>
          </a:xfrm>
          <a:prstGeom prst="roundRect">
            <a:avLst>
              <a:gd name="adj" fmla="val 10000"/>
            </a:avLst>
          </a:prstGeom>
          <a:solidFill>
            <a:srgbClr val="FFFCF7"/>
          </a:solidFill>
          <a:ln w="10160">
            <a:solidFill>
              <a:srgbClr val="E7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481328"/>
            <a:ext cx="68580" cy="1143000"/>
          </a:xfrm>
          <a:prstGeom prst="rect">
            <a:avLst/>
          </a:prstGeom>
          <a:solidFill>
            <a:srgbClr val="C45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18488"/>
            <a:ext cx="4846320" cy="32004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r>
              <a:rPr sz="1400" b="1" i="0">
                <a:solidFill>
                  <a:srgbClr val="402219"/>
                </a:solidFill>
                <a:latin typeface="Georgia"/>
              </a:rPr>
              <a:t>01 · Review-wise summary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002536"/>
            <a:ext cx="4846320" cy="53949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r>
              <a:rPr sz="1230" b="0" i="0">
                <a:solidFill>
                  <a:srgbClr val="2E241F"/>
                </a:solidFill>
                <a:latin typeface="Aptos"/>
              </a:rPr>
              <a:t>Choose option 6 to explain what changed from Review 1 to Review 3.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481328"/>
            <a:ext cx="5166360" cy="1143000"/>
          </a:xfrm>
          <a:prstGeom prst="roundRect">
            <a:avLst>
              <a:gd name="adj" fmla="val 10000"/>
            </a:avLst>
          </a:prstGeom>
          <a:solidFill>
            <a:srgbClr val="FFFCF7"/>
          </a:solidFill>
          <a:ln w="10160">
            <a:solidFill>
              <a:srgbClr val="E7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1481328"/>
            <a:ext cx="68580" cy="1143000"/>
          </a:xfrm>
          <a:prstGeom prst="rect">
            <a:avLst/>
          </a:prstGeom>
          <a:solidFill>
            <a:srgbClr val="C45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1618488"/>
            <a:ext cx="4846320" cy="32004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r>
              <a:rPr sz="1400" b="1" i="0">
                <a:solidFill>
                  <a:srgbClr val="402219"/>
                </a:solidFill>
                <a:latin typeface="Georgia"/>
              </a:rPr>
              <a:t>02 · Review 1 / Design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002536"/>
            <a:ext cx="4846320" cy="53949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r>
              <a:rPr sz="1230" b="0" i="0">
                <a:solidFill>
                  <a:srgbClr val="2E241F"/>
                </a:solidFill>
                <a:latin typeface="Aptos"/>
              </a:rPr>
              <a:t>Choose option 1: problem, objectives, SQL scope and architecture.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2898648"/>
            <a:ext cx="5166360" cy="1143000"/>
          </a:xfrm>
          <a:prstGeom prst="roundRect">
            <a:avLst>
              <a:gd name="adj" fmla="val 10000"/>
            </a:avLst>
          </a:prstGeom>
          <a:solidFill>
            <a:srgbClr val="FFFCF7"/>
          </a:solidFill>
          <a:ln w="10160">
            <a:solidFill>
              <a:srgbClr val="E7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2898648"/>
            <a:ext cx="68580" cy="1143000"/>
          </a:xfrm>
          <a:prstGeom prst="rect">
            <a:avLst/>
          </a:prstGeom>
          <a:solidFill>
            <a:srgbClr val="E0A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3035808"/>
            <a:ext cx="4846320" cy="32004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r>
              <a:rPr sz="1400" b="1" i="0">
                <a:solidFill>
                  <a:srgbClr val="402219"/>
                </a:solidFill>
                <a:latin typeface="Georgia"/>
              </a:rPr>
              <a:t>03 · Review 2 / Core modules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3419856"/>
            <a:ext cx="4846320" cy="53949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r>
              <a:rPr sz="1230" b="0" i="0">
                <a:solidFill>
                  <a:srgbClr val="2E241F"/>
                </a:solidFill>
                <a:latin typeface="Aptos"/>
              </a:rPr>
              <a:t>Choose option 2: tokens, AST, semantics, relational IR and a sample result.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2898648"/>
            <a:ext cx="5166360" cy="1143000"/>
          </a:xfrm>
          <a:prstGeom prst="roundRect">
            <a:avLst>
              <a:gd name="adj" fmla="val 10000"/>
            </a:avLst>
          </a:prstGeom>
          <a:solidFill>
            <a:srgbClr val="FFFCF7"/>
          </a:solidFill>
          <a:ln w="10160">
            <a:solidFill>
              <a:srgbClr val="E7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0" y="2898648"/>
            <a:ext cx="68580" cy="1143000"/>
          </a:xfrm>
          <a:prstGeom prst="rect">
            <a:avLst/>
          </a:prstGeom>
          <a:solidFill>
            <a:srgbClr val="E0A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3035808"/>
            <a:ext cx="4846320" cy="32004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r>
              <a:rPr sz="1400" b="1" i="0">
                <a:solidFill>
                  <a:srgbClr val="402219"/>
                </a:solidFill>
                <a:latin typeface="Georgia"/>
              </a:rPr>
              <a:t>04 · Review 3 / Full demo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3419856"/>
            <a:ext cx="4846320" cy="53949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r>
              <a:rPr sz="1230" b="0" i="0">
                <a:solidFill>
                  <a:srgbClr val="2E241F"/>
                </a:solidFill>
                <a:latin typeface="Aptos"/>
              </a:rPr>
              <a:t>Choose option 3: full multi-join pipeline, plan selection and SQLite output.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4315968"/>
            <a:ext cx="5166360" cy="1143000"/>
          </a:xfrm>
          <a:prstGeom prst="roundRect">
            <a:avLst>
              <a:gd name="adj" fmla="val 10000"/>
            </a:avLst>
          </a:prstGeom>
          <a:solidFill>
            <a:srgbClr val="FFFCF7"/>
          </a:solidFill>
          <a:ln w="10160">
            <a:solidFill>
              <a:srgbClr val="E7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77240" y="4315968"/>
            <a:ext cx="68580" cy="1143000"/>
          </a:xfrm>
          <a:prstGeom prst="rect">
            <a:avLst/>
          </a:prstGeom>
          <a:solidFill>
            <a:srgbClr val="667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4453128"/>
            <a:ext cx="4846320" cy="32004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r>
              <a:rPr sz="1400" b="1" i="0">
                <a:solidFill>
                  <a:srgbClr val="402219"/>
                </a:solidFill>
                <a:latin typeface="Georgia"/>
              </a:rPr>
              <a:t>05 · Professor’s own input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4837176"/>
            <a:ext cx="4846320" cy="53949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r>
              <a:rPr sz="1230" b="0" i="0">
                <a:solidFill>
                  <a:srgbClr val="2E241F"/>
                </a:solidFill>
                <a:latin typeface="Aptos"/>
              </a:rPr>
              <a:t>Choose option 4 and enter a SELECT query on one line.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4315968"/>
            <a:ext cx="5166360" cy="1143000"/>
          </a:xfrm>
          <a:prstGeom prst="roundRect">
            <a:avLst>
              <a:gd name="adj" fmla="val 10000"/>
            </a:avLst>
          </a:prstGeom>
          <a:solidFill>
            <a:srgbClr val="FFFCF7"/>
          </a:solidFill>
          <a:ln w="10160">
            <a:solidFill>
              <a:srgbClr val="E7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00800" y="4315968"/>
            <a:ext cx="68580" cy="1143000"/>
          </a:xfrm>
          <a:prstGeom prst="rect">
            <a:avLst/>
          </a:prstGeom>
          <a:solidFill>
            <a:srgbClr val="667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0" y="4453128"/>
            <a:ext cx="4846320" cy="32004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r>
              <a:rPr sz="1400" b="1" i="0">
                <a:solidFill>
                  <a:srgbClr val="402219"/>
                </a:solidFill>
                <a:latin typeface="Georgia"/>
              </a:rPr>
              <a:t>06 · Cost calculation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4837176"/>
            <a:ext cx="4846320" cy="53949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r>
              <a:rPr sz="1230" b="0" i="0">
                <a:solidFill>
                  <a:srgbClr val="2E241F"/>
                </a:solidFill>
                <a:latin typeface="Aptos"/>
              </a:rPr>
              <a:t>Choose option 5 to compare formulas and explain why the minimum estimated cost wins.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0881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45643"/>
                </a:solidFill>
                <a:latin typeface="Aptos"/>
              </a:rPr>
              <a:t>LIMITATIONS AND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94360"/>
            <a:ext cx="1097280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402219"/>
                </a:solidFill>
                <a:latin typeface="Georgia"/>
              </a:rPr>
              <a:t>The project is complete as an educational prototype, with clear scope limits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1124712"/>
            <a:ext cx="594360" cy="50292"/>
          </a:xfrm>
          <a:prstGeom prst="rect">
            <a:avLst/>
          </a:prstGeom>
          <a:solidFill>
            <a:srgbClr val="E0A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8138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7D6A5F"/>
                </a:solidFill>
                <a:latin typeface="Aptos"/>
              </a:rPr>
              <a:t>COSTRA  •  COMPILER DESIGN LABORATORY  •  FINAL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02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>
                <a:solidFill>
                  <a:srgbClr val="7D6A5F"/>
                </a:solidFill>
                <a:latin typeface="Aptos"/>
              </a:rPr>
              <a:t>30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554480"/>
            <a:ext cx="5349240" cy="3611880"/>
          </a:xfrm>
          <a:prstGeom prst="roundRect">
            <a:avLst>
              <a:gd name="adj" fmla="val 10000"/>
            </a:avLst>
          </a:prstGeom>
          <a:solidFill>
            <a:srgbClr val="FFFCF7"/>
          </a:solidFill>
          <a:ln w="10160">
            <a:solidFill>
              <a:srgbClr val="E7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554480"/>
            <a:ext cx="68580" cy="3611880"/>
          </a:xfrm>
          <a:prstGeom prst="rect">
            <a:avLst/>
          </a:prstGeom>
          <a:solidFill>
            <a:srgbClr val="A74C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691639"/>
            <a:ext cx="5029200" cy="32004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402219"/>
                </a:solidFill>
                <a:latin typeface="Georgia"/>
              </a:rPr>
              <a:t>Current limitations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075688"/>
            <a:ext cx="5029200" cy="300837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40" b="0" i="0">
                <a:solidFill>
                  <a:srgbClr val="2E241F"/>
                </a:solidFill>
                <a:latin typeface="Aptos"/>
              </a:rPr>
              <a:t>• SQL SELECT subset, not the full standard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40" b="0" i="0">
                <a:solidFill>
                  <a:srgbClr val="2E241F"/>
                </a:solidFill>
                <a:latin typeface="Aptos"/>
              </a:rPr>
              <a:t>• Synthetic statistics and heuristic costs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40" b="0" i="0">
                <a:solidFill>
                  <a:srgbClr val="2E241F"/>
                </a:solidFill>
                <a:latin typeface="Aptos"/>
              </a:rPr>
              <a:t>• Join enumeration is capped; not full dynamic programming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40" b="0" i="0">
                <a:solidFill>
                  <a:srgbClr val="2E241F"/>
                </a:solidFill>
                <a:latin typeface="Aptos"/>
              </a:rPr>
              <a:t>• Selected estimated plan is not injected into SQLite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40" b="0" i="0">
                <a:solidFill>
                  <a:srgbClr val="2E241F"/>
                </a:solidFill>
                <a:latin typeface="Aptos"/>
              </a:rPr>
              <a:t>• Benchmark dataset is a tiny in-memory fixture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554480"/>
            <a:ext cx="5349240" cy="3611880"/>
          </a:xfrm>
          <a:prstGeom prst="roundRect">
            <a:avLst>
              <a:gd name="adj" fmla="val 10000"/>
            </a:avLst>
          </a:prstGeom>
          <a:solidFill>
            <a:srgbClr val="FFFCF7"/>
          </a:solidFill>
          <a:ln w="10160">
            <a:solidFill>
              <a:srgbClr val="E7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2200" y="1554480"/>
            <a:ext cx="68580" cy="3611880"/>
          </a:xfrm>
          <a:prstGeom prst="rect">
            <a:avLst/>
          </a:prstGeom>
          <a:solidFill>
            <a:srgbClr val="667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691639"/>
            <a:ext cx="5029200" cy="32004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402219"/>
                </a:solidFill>
                <a:latin typeface="Georgia"/>
              </a:rPr>
              <a:t>Future enhancements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075688"/>
            <a:ext cx="5029200" cy="300837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40" b="0" i="0">
                <a:solidFill>
                  <a:srgbClr val="2E241F"/>
                </a:solidFill>
                <a:latin typeface="Aptos"/>
              </a:rPr>
              <a:t>• Collect table and column statistics from data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40" b="0" i="0">
                <a:solidFill>
                  <a:srgbClr val="2E241F"/>
                </a:solidFill>
                <a:latin typeface="Aptos"/>
              </a:rPr>
              <a:t>• Add dynamic-programming / memoized join search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40" b="0" i="0">
                <a:solidFill>
                  <a:srgbClr val="2E241F"/>
                </a:solidFill>
                <a:latin typeface="Aptos"/>
              </a:rPr>
              <a:t>• Expand grouping/type semantics and SQL grammar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40" b="0" i="0">
                <a:solidFill>
                  <a:srgbClr val="2E241F"/>
                </a:solidFill>
                <a:latin typeface="Aptos"/>
              </a:rPr>
              <a:t>• Add an executor that truly follows COSTRA physical operators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40" b="0" i="0">
                <a:solidFill>
                  <a:srgbClr val="2E241F"/>
                </a:solidFill>
                <a:latin typeface="Aptos"/>
              </a:rPr>
              <a:t>• Benchmark on controlled, larger datasets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532120"/>
            <a:ext cx="10287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402219"/>
                </a:solidFill>
                <a:latin typeface="Georgia"/>
              </a:rPr>
              <a:t>State limitations clearly; explaining a boundary is stronger than claiming a feature that is not implemented.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0881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45643"/>
                </a:solidFill>
                <a:latin typeface="Aptos"/>
              </a:rPr>
              <a:t>VIVA PREPARATION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94360"/>
            <a:ext cx="1097280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402219"/>
                </a:solidFill>
                <a:latin typeface="Georgia"/>
              </a:rPr>
              <a:t>Questions the professor may ask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1124712"/>
            <a:ext cx="594360" cy="50292"/>
          </a:xfrm>
          <a:prstGeom prst="rect">
            <a:avLst/>
          </a:prstGeom>
          <a:solidFill>
            <a:srgbClr val="E0A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8138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7D6A5F"/>
                </a:solidFill>
                <a:latin typeface="Aptos"/>
              </a:rPr>
              <a:t>COSTRA  •  COMPILER DESIGN LABORATORY  •  FINAL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02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>
                <a:solidFill>
                  <a:srgbClr val="7D6A5F"/>
                </a:solidFill>
                <a:latin typeface="Aptos"/>
              </a:rPr>
              <a:t>31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572768"/>
            <a:ext cx="3886200" cy="557784"/>
          </a:xfrm>
          <a:prstGeom prst="rect">
            <a:avLst/>
          </a:prstGeom>
          <a:solidFill>
            <a:srgbClr val="402219"/>
          </a:solidFill>
          <a:ln w="10160">
            <a:solidFill>
              <a:srgbClr val="E7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600200"/>
            <a:ext cx="3758184" cy="502920"/>
          </a:xfrm>
          <a:prstGeom prst="rect">
            <a:avLst/>
          </a:prstGeom>
          <a:noFill/>
        </p:spPr>
        <p:txBody>
          <a:bodyPr wrap="square" lIns="4572" rIns="4572" tIns="4572" bIns="457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CF7"/>
                </a:solidFill>
                <a:latin typeface="Aptos"/>
              </a:rPr>
              <a:t>Question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1572768"/>
            <a:ext cx="6492240" cy="557784"/>
          </a:xfrm>
          <a:prstGeom prst="rect">
            <a:avLst/>
          </a:prstGeom>
          <a:solidFill>
            <a:srgbClr val="402219"/>
          </a:solidFill>
          <a:ln w="10160">
            <a:solidFill>
              <a:srgbClr val="E7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36008" y="1600200"/>
            <a:ext cx="6364224" cy="502920"/>
          </a:xfrm>
          <a:prstGeom prst="rect">
            <a:avLst/>
          </a:prstGeom>
          <a:noFill/>
        </p:spPr>
        <p:txBody>
          <a:bodyPr wrap="square" lIns="4572" rIns="4572" tIns="4572" bIns="457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CF7"/>
                </a:solidFill>
                <a:latin typeface="Aptos"/>
              </a:rPr>
              <a:t>Short answer to prepare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2130552"/>
            <a:ext cx="3886200" cy="557784"/>
          </a:xfrm>
          <a:prstGeom prst="rect">
            <a:avLst/>
          </a:prstGeom>
          <a:solidFill>
            <a:srgbClr val="FFFCF7"/>
          </a:solidFill>
          <a:ln w="10160">
            <a:solidFill>
              <a:srgbClr val="E7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2157984"/>
            <a:ext cx="3758184" cy="502920"/>
          </a:xfrm>
          <a:prstGeom prst="rect">
            <a:avLst/>
          </a:prstGeom>
          <a:noFill/>
        </p:spPr>
        <p:txBody>
          <a:bodyPr wrap="square" lIns="4572" rIns="4572" tIns="4572" bIns="457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E241F"/>
                </a:solidFill>
                <a:latin typeface="Aptos"/>
              </a:rPr>
              <a:t>Why is this Compiler Design?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0" y="2130552"/>
            <a:ext cx="6492240" cy="557784"/>
          </a:xfrm>
          <a:prstGeom prst="rect">
            <a:avLst/>
          </a:prstGeom>
          <a:solidFill>
            <a:srgbClr val="FFFCF7"/>
          </a:solidFill>
          <a:ln w="10160">
            <a:solidFill>
              <a:srgbClr val="E7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36008" y="2157984"/>
            <a:ext cx="6364224" cy="502920"/>
          </a:xfrm>
          <a:prstGeom prst="rect">
            <a:avLst/>
          </a:prstGeom>
          <a:noFill/>
        </p:spPr>
        <p:txBody>
          <a:bodyPr wrap="square" lIns="4572" rIns="4572" tIns="4572" bIns="457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E241F"/>
                </a:solidFill>
                <a:latin typeface="Aptos"/>
              </a:rPr>
              <a:t>SQL is tokenized, parsed, semantically checked and transformed into a relational IR.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2688336"/>
            <a:ext cx="3886200" cy="557784"/>
          </a:xfrm>
          <a:prstGeom prst="rect">
            <a:avLst/>
          </a:prstGeom>
          <a:solidFill>
            <a:srgbClr val="FBF7EF"/>
          </a:solidFill>
          <a:ln w="10160">
            <a:solidFill>
              <a:srgbClr val="E7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2715768"/>
            <a:ext cx="3758184" cy="502920"/>
          </a:xfrm>
          <a:prstGeom prst="rect">
            <a:avLst/>
          </a:prstGeom>
          <a:noFill/>
        </p:spPr>
        <p:txBody>
          <a:bodyPr wrap="square" lIns="4572" rIns="4572" tIns="4572" bIns="457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E241F"/>
                </a:solidFill>
                <a:latin typeface="Aptos"/>
              </a:rPr>
              <a:t>What is an AST?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0" y="2688336"/>
            <a:ext cx="6492240" cy="557784"/>
          </a:xfrm>
          <a:prstGeom prst="rect">
            <a:avLst/>
          </a:prstGeom>
          <a:solidFill>
            <a:srgbClr val="FBF7EF"/>
          </a:solidFill>
          <a:ln w="10160">
            <a:solidFill>
              <a:srgbClr val="E7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36008" y="2715768"/>
            <a:ext cx="6364224" cy="502920"/>
          </a:xfrm>
          <a:prstGeom prst="rect">
            <a:avLst/>
          </a:prstGeom>
          <a:noFill/>
        </p:spPr>
        <p:txBody>
          <a:bodyPr wrap="square" lIns="4572" rIns="4572" tIns="4572" bIns="457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E241F"/>
                </a:solidFill>
                <a:latin typeface="Aptos"/>
              </a:rPr>
              <a:t>A tree representation of the query's syntactic structure, without redundant punctuation.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3246120"/>
            <a:ext cx="3886200" cy="557784"/>
          </a:xfrm>
          <a:prstGeom prst="rect">
            <a:avLst/>
          </a:prstGeom>
          <a:solidFill>
            <a:srgbClr val="FFFCF7"/>
          </a:solidFill>
          <a:ln w="10160">
            <a:solidFill>
              <a:srgbClr val="E7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3273551"/>
            <a:ext cx="3758184" cy="502920"/>
          </a:xfrm>
          <a:prstGeom prst="rect">
            <a:avLst/>
          </a:prstGeom>
          <a:noFill/>
        </p:spPr>
        <p:txBody>
          <a:bodyPr wrap="square" lIns="4572" rIns="4572" tIns="4572" bIns="457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E241F"/>
                </a:solidFill>
                <a:latin typeface="Aptos"/>
              </a:rPr>
              <a:t>What is cardinality?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0" y="3246120"/>
            <a:ext cx="6492240" cy="557784"/>
          </a:xfrm>
          <a:prstGeom prst="rect">
            <a:avLst/>
          </a:prstGeom>
          <a:solidFill>
            <a:srgbClr val="FFFCF7"/>
          </a:solidFill>
          <a:ln w="10160">
            <a:solidFill>
              <a:srgbClr val="E7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36008" y="3273551"/>
            <a:ext cx="6364224" cy="502920"/>
          </a:xfrm>
          <a:prstGeom prst="rect">
            <a:avLst/>
          </a:prstGeom>
          <a:noFill/>
        </p:spPr>
        <p:txBody>
          <a:bodyPr wrap="square" lIns="4572" rIns="4572" tIns="4572" bIns="457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E241F"/>
                </a:solidFill>
                <a:latin typeface="Aptos"/>
              </a:rPr>
              <a:t>The estimated number of rows produced by a relation or operator.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" y="3803904"/>
            <a:ext cx="3886200" cy="557784"/>
          </a:xfrm>
          <a:prstGeom prst="rect">
            <a:avLst/>
          </a:prstGeom>
          <a:solidFill>
            <a:srgbClr val="FBF7EF"/>
          </a:solidFill>
          <a:ln w="10160">
            <a:solidFill>
              <a:srgbClr val="E7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3831336"/>
            <a:ext cx="3758184" cy="502920"/>
          </a:xfrm>
          <a:prstGeom prst="rect">
            <a:avLst/>
          </a:prstGeom>
          <a:noFill/>
        </p:spPr>
        <p:txBody>
          <a:bodyPr wrap="square" lIns="4572" rIns="4572" tIns="4572" bIns="457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E241F"/>
                </a:solidFill>
                <a:latin typeface="Aptos"/>
              </a:rPr>
              <a:t>Are cost units runtime?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0" y="3803904"/>
            <a:ext cx="6492240" cy="557784"/>
          </a:xfrm>
          <a:prstGeom prst="rect">
            <a:avLst/>
          </a:prstGeom>
          <a:solidFill>
            <a:srgbClr val="FBF7EF"/>
          </a:solidFill>
          <a:ln w="10160">
            <a:solidFill>
              <a:srgbClr val="E7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36008" y="3831336"/>
            <a:ext cx="6364224" cy="502920"/>
          </a:xfrm>
          <a:prstGeom prst="rect">
            <a:avLst/>
          </a:prstGeom>
          <a:noFill/>
        </p:spPr>
        <p:txBody>
          <a:bodyPr wrap="square" lIns="4572" rIns="4572" tIns="4572" bIns="457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E241F"/>
                </a:solidFill>
                <a:latin typeface="Aptos"/>
              </a:rPr>
              <a:t>No; they are heuristic model units, not milliseconds.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" y="4361688"/>
            <a:ext cx="3886200" cy="557784"/>
          </a:xfrm>
          <a:prstGeom prst="rect">
            <a:avLst/>
          </a:prstGeom>
          <a:solidFill>
            <a:srgbClr val="FFFCF7"/>
          </a:solidFill>
          <a:ln w="10160">
            <a:solidFill>
              <a:srgbClr val="E7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9808" y="4389120"/>
            <a:ext cx="3758184" cy="502920"/>
          </a:xfrm>
          <a:prstGeom prst="rect">
            <a:avLst/>
          </a:prstGeom>
          <a:noFill/>
        </p:spPr>
        <p:txBody>
          <a:bodyPr wrap="square" lIns="4572" rIns="4572" tIns="4572" bIns="457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E241F"/>
                </a:solidFill>
                <a:latin typeface="Aptos"/>
              </a:rPr>
              <a:t>Does SQLite run COSTRA's plan?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0" y="4361688"/>
            <a:ext cx="6492240" cy="557784"/>
          </a:xfrm>
          <a:prstGeom prst="rect">
            <a:avLst/>
          </a:prstGeom>
          <a:solidFill>
            <a:srgbClr val="FFFCF7"/>
          </a:solidFill>
          <a:ln w="10160">
            <a:solidFill>
              <a:srgbClr val="E7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36008" y="4389120"/>
            <a:ext cx="6364224" cy="502920"/>
          </a:xfrm>
          <a:prstGeom prst="rect">
            <a:avLst/>
          </a:prstGeom>
          <a:noFill/>
        </p:spPr>
        <p:txBody>
          <a:bodyPr wrap="square" lIns="4572" rIns="4572" tIns="4572" bIns="457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E241F"/>
                </a:solidFill>
                <a:latin typeface="Aptos"/>
              </a:rPr>
              <a:t>No; SQLite plans normalized SQL independently.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5800" y="4919472"/>
            <a:ext cx="3886200" cy="557784"/>
          </a:xfrm>
          <a:prstGeom prst="rect">
            <a:avLst/>
          </a:prstGeom>
          <a:solidFill>
            <a:srgbClr val="FBF7EF"/>
          </a:solidFill>
          <a:ln w="10160">
            <a:solidFill>
              <a:srgbClr val="E7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9808" y="4946904"/>
            <a:ext cx="3758184" cy="502920"/>
          </a:xfrm>
          <a:prstGeom prst="rect">
            <a:avLst/>
          </a:prstGeom>
          <a:noFill/>
        </p:spPr>
        <p:txBody>
          <a:bodyPr wrap="square" lIns="4572" rIns="4572" tIns="4572" bIns="457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E241F"/>
                </a:solidFill>
                <a:latin typeface="Aptos"/>
              </a:rPr>
              <a:t>Why use an in-memory fixture?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0" y="4919472"/>
            <a:ext cx="6492240" cy="557784"/>
          </a:xfrm>
          <a:prstGeom prst="rect">
            <a:avLst/>
          </a:prstGeom>
          <a:solidFill>
            <a:srgbClr val="FBF7EF"/>
          </a:solidFill>
          <a:ln w="10160">
            <a:solidFill>
              <a:srgbClr val="E7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36008" y="4946904"/>
            <a:ext cx="6364224" cy="502920"/>
          </a:xfrm>
          <a:prstGeom prst="rect">
            <a:avLst/>
          </a:prstGeom>
          <a:noFill/>
        </p:spPr>
        <p:txBody>
          <a:bodyPr wrap="square" lIns="4572" rIns="4572" tIns="4572" bIns="457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E241F"/>
                </a:solidFill>
                <a:latin typeface="Aptos"/>
              </a:rPr>
              <a:t>Fast, repeatable outputs for demo/testing; not production benchmarking.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02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829800" y="-1417320"/>
            <a:ext cx="3657600" cy="3657600"/>
          </a:xfrm>
          <a:prstGeom prst="ellipse">
            <a:avLst/>
          </a:prstGeom>
          <a:solidFill>
            <a:srgbClr val="583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731520" y="5669280"/>
            <a:ext cx="2926080" cy="2926080"/>
          </a:xfrm>
          <a:prstGeom prst="ellipse">
            <a:avLst/>
          </a:prstGeom>
          <a:solidFill>
            <a:srgbClr val="667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941832"/>
            <a:ext cx="8686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800" b="1" i="0">
                <a:solidFill>
                  <a:srgbClr val="FFFCF7"/>
                </a:solidFill>
                <a:latin typeface="Georgia"/>
              </a:rPr>
              <a:t>Thank You!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2084831"/>
            <a:ext cx="81381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E7D4C0"/>
                </a:solidFill>
                <a:latin typeface="Georgia"/>
              </a:rPr>
              <a:t>COSTRA — Cost-Based SQL Compiler &amp; Query Optimizer</a:t>
            </a:r>
          </a:p>
        </p:txBody>
      </p:sp>
      <p:sp>
        <p:nvSpPr>
          <p:cNvPr id="6" name="Rectangle 5"/>
          <p:cNvSpPr/>
          <p:nvPr/>
        </p:nvSpPr>
        <p:spPr>
          <a:xfrm>
            <a:off x="896112" y="2724912"/>
            <a:ext cx="1051560" cy="54864"/>
          </a:xfrm>
          <a:prstGeom prst="rect">
            <a:avLst/>
          </a:prstGeom>
          <a:solidFill>
            <a:srgbClr val="E0A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3246120"/>
            <a:ext cx="9601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CF7"/>
                </a:solidFill>
                <a:latin typeface="Aptos"/>
              </a:rPr>
              <a:t>Arsh Shukla   |   24BDS0113   |   VIT Vellore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4846320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7D4C0"/>
                </a:solidFill>
                <a:latin typeface="Aptos"/>
              </a:rPr>
              <a:t>GitHub repository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5166360"/>
            <a:ext cx="7772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 u="sng">
                <a:solidFill>
                  <a:srgbClr val="E0AA3A"/>
                </a:solidFill>
                <a:latin typeface="Aptos"/>
                <a:hlinkClick r:id="rId2"/>
              </a:rPr>
              <a:t>github.com/arshshukla500newuser/COSTRA-SQL-Compiler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6062472"/>
            <a:ext cx="731520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E7D4C0"/>
                </a:solidFill>
                <a:latin typeface="Aptos"/>
              </a:rPr>
              <a:t>Review 3  •  Final implementation, validation and demonstration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E0AA3A"/>
      </a:hlink>
      <a:folHlink>
        <a:srgbClr val="BFA36A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COSTRA — Final Project Review 3 Demonstration</dc:title>
  <dc:subject>Cost-Based SQL Compiler and Query Optimizer — Phase 3</dc:subject>
  <dc:creator>Arsh Shukla</dc:creator>
  <cp:keywords>COSTRA, compiler design, SQL, optimizer, Review 3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